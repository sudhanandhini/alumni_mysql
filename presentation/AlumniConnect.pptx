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B6FE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Employed</c:v>
                </c:pt>
                <c:pt idx="1">
                  <c:v>Self-Employed</c:v>
                </c:pt>
                <c:pt idx="2">
                  <c:v>Pending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A4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the AlumniConnect alumni network portal, developed by Sunsys Technologies.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what AlumniConnect provides, with a live view of the homepage.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capability areas of the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 statistics headline the portal's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Three-step registration flow, gated by admin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dashboard: live counts, status breakdown, and management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 categories with representative upcoming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call-to-action.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image" Target="../media/image-6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fade_01"/>
          <p:cNvSpPr/>
          <p:nvPr/>
        </p:nvSpPr>
        <p:spPr>
          <a:xfrm>
            <a:off x="566928" y="502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6386A"/>
          </a:solidFill>
          <a:ln/>
        </p:spPr>
      </p:sp>
      <p:pic>
        <p:nvPicPr>
          <p:cNvPr id="3" name="Image 0" descr="/home/claude/icons/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603504"/>
            <a:ext cx="256032" cy="256032"/>
          </a:xfrm>
          <a:prstGeom prst="rect">
            <a:avLst/>
          </a:prstGeom>
        </p:spPr>
      </p:pic>
      <p:sp>
        <p:nvSpPr>
          <p:cNvPr id="4" name="anim_fade_02"/>
          <p:cNvSpPr/>
          <p:nvPr/>
        </p:nvSpPr>
        <p:spPr>
          <a:xfrm>
            <a:off x="1133856" y="484632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</a:t>
            </a:r>
            <a:pPr algn="l" indent="0" marL="0">
              <a:buNone/>
            </a:pPr>
            <a:r>
              <a:rPr lang="en-US" sz="20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2000" dirty="0"/>
          </a:p>
        </p:txBody>
      </p:sp>
      <p:sp>
        <p:nvSpPr>
          <p:cNvPr id="5" name="anim_fade_03"/>
          <p:cNvSpPr/>
          <p:nvPr/>
        </p:nvSpPr>
        <p:spPr>
          <a:xfrm>
            <a:off x="7818120" y="1234440"/>
            <a:ext cx="4160520" cy="4160520"/>
          </a:xfrm>
          <a:prstGeom prst="ellipse">
            <a:avLst/>
          </a:prstGeom>
          <a:solidFill>
            <a:srgbClr val="24386B">
              <a:alpha val="55000"/>
            </a:srgbClr>
          </a:solidFill>
          <a:ln w="12700">
            <a:solidFill>
              <a:srgbClr val="6E8FDA">
                <a:alpha val="45000"/>
              </a:srgbClr>
            </a:solidFill>
            <a:prstDash val="solid"/>
          </a:ln>
        </p:spPr>
      </p:sp>
      <p:sp>
        <p:nvSpPr>
          <p:cNvPr id="6" name="anim_fade_04"/>
          <p:cNvSpPr/>
          <p:nvPr/>
        </p:nvSpPr>
        <p:spPr>
          <a:xfrm>
            <a:off x="8549640" y="1965960"/>
            <a:ext cx="2697480" cy="2697480"/>
          </a:xfrm>
          <a:prstGeom prst="ellipse">
            <a:avLst/>
          </a:prstGeom>
          <a:solidFill>
            <a:srgbClr val="3B6FE0">
              <a:alpha val="80000"/>
            </a:srgbClr>
          </a:solidFill>
          <a:ln/>
          <a:effectLst>
            <a:outerShdw sx="100000" sy="100000" kx="0" ky="0" algn="bl" rotWithShape="0" blurRad="3175" dist="635" dir="5400000">
              <a:srgbClr val="0B1226">
                <a:alpha val="45000"/>
              </a:srgbClr>
            </a:outerShdw>
          </a:effectLst>
        </p:spPr>
      </p:sp>
      <p:pic>
        <p:nvPicPr>
          <p:cNvPr id="7" name="anim_fade_05" descr="/home/claude/icons/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2697480"/>
            <a:ext cx="1234440" cy="1234440"/>
          </a:xfrm>
          <a:prstGeom prst="rect">
            <a:avLst/>
          </a:prstGeom>
        </p:spPr>
      </p:pic>
      <p:sp>
        <p:nvSpPr>
          <p:cNvPr id="8" name="anim_fade_06"/>
          <p:cNvSpPr/>
          <p:nvPr/>
        </p:nvSpPr>
        <p:spPr>
          <a:xfrm>
            <a:off x="594360" y="1783080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8FA9E6">
                <a:alpha val="60000"/>
              </a:srgbClr>
            </a:solidFill>
            <a:prstDash val="solid"/>
          </a:ln>
        </p:spPr>
      </p:sp>
      <p:sp>
        <p:nvSpPr>
          <p:cNvPr id="9" name="anim_fade_07"/>
          <p:cNvSpPr/>
          <p:nvPr/>
        </p:nvSpPr>
        <p:spPr>
          <a:xfrm>
            <a:off x="594360" y="17830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D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OFFICIAL UNIVERSITY NETWORK</a:t>
            </a:r>
            <a:endParaRPr lang="en-US" sz="1050" dirty="0"/>
          </a:p>
        </p:txBody>
      </p:sp>
      <p:sp>
        <p:nvSpPr>
          <p:cNvPr id="10" name="anim_wipeup_08"/>
          <p:cNvSpPr/>
          <p:nvPr/>
        </p:nvSpPr>
        <p:spPr>
          <a:xfrm>
            <a:off x="548640" y="233172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Distinguished</a:t>
            </a:r>
            <a:endParaRPr lang="en-US" sz="56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</a:t>
            </a:r>
            <a:endParaRPr lang="en-US" sz="5600" dirty="0"/>
          </a:p>
        </p:txBody>
      </p:sp>
      <p:sp>
        <p:nvSpPr>
          <p:cNvPr id="11" name="anim_fade_09"/>
          <p:cNvSpPr/>
          <p:nvPr/>
        </p:nvSpPr>
        <p:spPr>
          <a:xfrm>
            <a:off x="566928" y="43434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excellence across generations — a global network of leaders, innovators, and mentors shaping the future.</a:t>
            </a:r>
            <a:endParaRPr lang="en-US" sz="1650" dirty="0"/>
          </a:p>
        </p:txBody>
      </p:sp>
      <p:sp>
        <p:nvSpPr>
          <p:cNvPr id="12" name="anim_wipeup_10"/>
          <p:cNvSpPr/>
          <p:nvPr/>
        </p:nvSpPr>
        <p:spPr>
          <a:xfrm>
            <a:off x="566928" y="544068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" dist="635" dir="5400000">
              <a:srgbClr val="0B1226">
                <a:alpha val="40000"/>
              </a:srgbClr>
            </a:outerShdw>
          </a:effectLst>
        </p:spPr>
      </p:sp>
      <p:sp>
        <p:nvSpPr>
          <p:cNvPr id="13" name="anim_wipeup_11"/>
          <p:cNvSpPr/>
          <p:nvPr/>
        </p:nvSpPr>
        <p:spPr>
          <a:xfrm>
            <a:off x="566928" y="54406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Alumni Network  →</a:t>
            </a:r>
            <a:endParaRPr lang="en-US" sz="1300" dirty="0"/>
          </a:p>
        </p:txBody>
      </p:sp>
      <p:sp>
        <p:nvSpPr>
          <p:cNvPr id="14" name="anim_wipeup_12"/>
          <p:cNvSpPr/>
          <p:nvPr/>
        </p:nvSpPr>
        <p:spPr>
          <a:xfrm>
            <a:off x="3063240" y="544068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9FB4E8">
                <a:alpha val="60000"/>
              </a:srgbClr>
            </a:solidFill>
            <a:prstDash val="solid"/>
          </a:ln>
        </p:spPr>
      </p:sp>
      <p:sp>
        <p:nvSpPr>
          <p:cNvPr id="15" name="anim_wipeup_13"/>
          <p:cNvSpPr/>
          <p:nvPr/>
        </p:nvSpPr>
        <p:spPr>
          <a:xfrm>
            <a:off x="3063240" y="54406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E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Directory</a:t>
            </a:r>
            <a:endParaRPr lang="en-US" sz="1300" dirty="0"/>
          </a:p>
        </p:txBody>
      </p:sp>
      <p:sp>
        <p:nvSpPr>
          <p:cNvPr id="16" name="anim_fade_14"/>
          <p:cNvSpPr/>
          <p:nvPr/>
        </p:nvSpPr>
        <p:spPr>
          <a:xfrm>
            <a:off x="566928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E9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Sunsys Technologies  ·  Alumni Network Portal 2026</a:t>
            </a:r>
            <a:endParaRPr lang="en-US" sz="1100" dirty="0"/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6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3" dur="6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6" dur="6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9" dur="6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2" dur="6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6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fade_15"/>
          <p:cNvSpPr/>
          <p:nvPr/>
        </p:nvSpPr>
        <p:spPr>
          <a:xfrm>
            <a:off x="566928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anim_wipeup_16"/>
          <p:cNvSpPr/>
          <p:nvPr/>
        </p:nvSpPr>
        <p:spPr>
          <a:xfrm>
            <a:off x="548640" y="78638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generation.</a:t>
            </a:r>
            <a:endParaRPr lang="en-US" sz="3200" dirty="0"/>
          </a:p>
        </p:txBody>
      </p:sp>
      <p:pic>
        <p:nvPicPr>
          <p:cNvPr id="4" name="anim_fade_17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901952"/>
            <a:ext cx="274320" cy="274320"/>
          </a:xfrm>
          <a:prstGeom prst="rect">
            <a:avLst/>
          </a:prstGeom>
        </p:spPr>
      </p:pic>
      <p:sp>
        <p:nvSpPr>
          <p:cNvPr id="5" name="anim_wleft_18"/>
          <p:cNvSpPr/>
          <p:nvPr/>
        </p:nvSpPr>
        <p:spPr>
          <a:xfrm>
            <a:off x="1024128" y="18196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home for the whole community</a:t>
            </a:r>
            <a:endParaRPr lang="en-US" sz="1650" dirty="0"/>
          </a:p>
        </p:txBody>
      </p:sp>
      <p:sp>
        <p:nvSpPr>
          <p:cNvPr id="6" name="anim_wleft_19"/>
          <p:cNvSpPr/>
          <p:nvPr/>
        </p:nvSpPr>
        <p:spPr>
          <a:xfrm>
            <a:off x="1024128" y="2185416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alumni register, connect, and stay in touch across batches and campuses.</a:t>
            </a:r>
            <a:endParaRPr lang="en-US" sz="1250" dirty="0"/>
          </a:p>
        </p:txBody>
      </p:sp>
      <p:pic>
        <p:nvPicPr>
          <p:cNvPr id="7" name="anim_fade_20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3227832"/>
            <a:ext cx="274320" cy="274320"/>
          </a:xfrm>
          <a:prstGeom prst="rect">
            <a:avLst/>
          </a:prstGeom>
        </p:spPr>
      </p:pic>
      <p:sp>
        <p:nvSpPr>
          <p:cNvPr id="8" name="anim_wleft_21"/>
          <p:cNvSpPr/>
          <p:nvPr/>
        </p:nvSpPr>
        <p:spPr>
          <a:xfrm>
            <a:off x="1024128" y="314553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&amp; admin-approved</a:t>
            </a:r>
            <a:endParaRPr lang="en-US" sz="1650" dirty="0"/>
          </a:p>
        </p:txBody>
      </p:sp>
      <p:sp>
        <p:nvSpPr>
          <p:cNvPr id="9" name="anim_wleft_22"/>
          <p:cNvSpPr/>
          <p:nvPr/>
        </p:nvSpPr>
        <p:spPr>
          <a:xfrm>
            <a:off x="1024128" y="3511296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self-registration is reviewed and approved by the admin before going live.</a:t>
            </a:r>
            <a:endParaRPr lang="en-US" sz="1250" dirty="0"/>
          </a:p>
        </p:txBody>
      </p:sp>
      <p:pic>
        <p:nvPicPr>
          <p:cNvPr id="10" name="anim_fade_23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553712"/>
            <a:ext cx="274320" cy="274320"/>
          </a:xfrm>
          <a:prstGeom prst="rect">
            <a:avLst/>
          </a:prstGeom>
        </p:spPr>
      </p:pic>
      <p:sp>
        <p:nvSpPr>
          <p:cNvPr id="11" name="anim_wleft_24"/>
          <p:cNvSpPr/>
          <p:nvPr/>
        </p:nvSpPr>
        <p:spPr>
          <a:xfrm>
            <a:off x="1024128" y="447141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Careers, mentorship &amp; events</a:t>
            </a:r>
            <a:endParaRPr lang="en-US" sz="1650" dirty="0"/>
          </a:p>
        </p:txBody>
      </p:sp>
      <p:sp>
        <p:nvSpPr>
          <p:cNvPr id="12" name="anim_wleft_25"/>
          <p:cNvSpPr/>
          <p:nvPr/>
        </p:nvSpPr>
        <p:spPr>
          <a:xfrm>
            <a:off x="1024128" y="4837176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jobs, find mentors, and join reunions, webinars, and hackathons in one place.</a:t>
            </a:r>
            <a:endParaRPr lang="en-US" sz="1250" dirty="0"/>
          </a:p>
        </p:txBody>
      </p:sp>
      <p:sp>
        <p:nvSpPr>
          <p:cNvPr id="13" name="anim_fade_26"/>
          <p:cNvSpPr/>
          <p:nvPr/>
        </p:nvSpPr>
        <p:spPr>
          <a:xfrm>
            <a:off x="6355080" y="141732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3810" dist="1143" dir="5400000">
              <a:srgbClr val="1A2540">
                <a:alpha val="28000"/>
              </a:srgbClr>
            </a:outerShdw>
          </a:effectLst>
        </p:spPr>
      </p:sp>
      <p:sp>
        <p:nvSpPr>
          <p:cNvPr id="14" name="anim_fade_27"/>
          <p:cNvSpPr/>
          <p:nvPr/>
        </p:nvSpPr>
        <p:spPr>
          <a:xfrm>
            <a:off x="6355080" y="1417320"/>
            <a:ext cx="5394960" cy="384048"/>
          </a:xfrm>
          <a:prstGeom prst="roundRect">
            <a:avLst>
              <a:gd name="adj" fmla="val 23810"/>
            </a:avLst>
          </a:prstGeom>
          <a:solidFill>
            <a:srgbClr val="EEF2F9"/>
          </a:solidFill>
          <a:ln/>
        </p:spPr>
      </p:sp>
      <p:sp>
        <p:nvSpPr>
          <p:cNvPr id="15" name="Shape 10"/>
          <p:cNvSpPr/>
          <p:nvPr/>
        </p:nvSpPr>
        <p:spPr>
          <a:xfrm>
            <a:off x="6537960" y="155448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1"/>
          <p:cNvSpPr/>
          <p:nvPr/>
        </p:nvSpPr>
        <p:spPr>
          <a:xfrm>
            <a:off x="6757416" y="155448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2"/>
          <p:cNvSpPr/>
          <p:nvPr/>
        </p:nvSpPr>
        <p:spPr>
          <a:xfrm>
            <a:off x="6976872" y="155448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8" name="anim_fade_28" descr="/home/claude/home_hero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46520" y="1874520"/>
            <a:ext cx="5212080" cy="36576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3" dur="6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6" dur="6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6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6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6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fade_29"/>
          <p:cNvSpPr/>
          <p:nvPr/>
        </p:nvSpPr>
        <p:spPr>
          <a:xfrm>
            <a:off x="566928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anim_wipeup_30"/>
          <p:cNvSpPr/>
          <p:nvPr/>
        </p:nvSpPr>
        <p:spPr>
          <a:xfrm>
            <a:off x="548640" y="74066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an alumni network needs</a:t>
            </a:r>
            <a:endParaRPr lang="en-US" sz="3000" dirty="0"/>
          </a:p>
        </p:txBody>
      </p:sp>
      <p:sp>
        <p:nvSpPr>
          <p:cNvPr id="4" name="anim_wipeup_31"/>
          <p:cNvSpPr/>
          <p:nvPr/>
        </p:nvSpPr>
        <p:spPr>
          <a:xfrm>
            <a:off x="521208" y="187452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AEEF6"/>
            </a:solidFill>
            <a:prstDash val="solid"/>
          </a:ln>
          <a:effectLst>
            <a:outerShdw sx="100000" sy="100000" kx="0" ky="0" algn="bl" rotWithShape="0" blurRad="2286" dist="762" dir="5400000">
              <a:srgbClr val="1A2540">
                <a:alpha val="16000"/>
              </a:srgbClr>
            </a:outerShdw>
          </a:effectLst>
        </p:spPr>
      </p:sp>
      <p:sp>
        <p:nvSpPr>
          <p:cNvPr id="5" name="anim_fade_32"/>
          <p:cNvSpPr/>
          <p:nvPr/>
        </p:nvSpPr>
        <p:spPr>
          <a:xfrm>
            <a:off x="795528" y="2148840"/>
            <a:ext cx="658368" cy="658368"/>
          </a:xfrm>
          <a:prstGeom prst="ellipse">
            <a:avLst/>
          </a:prstGeom>
          <a:solidFill>
            <a:srgbClr val="E8EEFB"/>
          </a:solidFill>
          <a:ln/>
          <a:effectLst>
            <a:outerShdw sx="100000" sy="100000" kx="0" ky="0" algn="bl" rotWithShape="0" blurRad="1270" dist="508" dir="5400000">
              <a:srgbClr val="1A2540">
                <a:alpha val="22000"/>
              </a:srgbClr>
            </a:outerShdw>
          </a:effectLst>
        </p:spPr>
      </p:sp>
      <p:pic>
        <p:nvPicPr>
          <p:cNvPr id="6" name="Image 0" descr="/home/claude/icons/dire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71" y="2333183"/>
            <a:ext cx="289682" cy="289682"/>
          </a:xfrm>
          <a:prstGeom prst="rect">
            <a:avLst/>
          </a:prstGeom>
        </p:spPr>
      </p:pic>
      <p:sp>
        <p:nvSpPr>
          <p:cNvPr id="7" name="anim_fade_33"/>
          <p:cNvSpPr/>
          <p:nvPr/>
        </p:nvSpPr>
        <p:spPr>
          <a:xfrm>
            <a:off x="795528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Directory</a:t>
            </a:r>
            <a:endParaRPr lang="en-US" sz="1550" dirty="0"/>
          </a:p>
        </p:txBody>
      </p:sp>
      <p:sp>
        <p:nvSpPr>
          <p:cNvPr id="8" name="anim_fade_34"/>
          <p:cNvSpPr/>
          <p:nvPr/>
        </p:nvSpPr>
        <p:spPr>
          <a:xfrm>
            <a:off x="795528" y="31546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browse a rich directory of alumni by batch, company, and location.</a:t>
            </a:r>
            <a:endParaRPr lang="en-US" sz="1150" dirty="0"/>
          </a:p>
        </p:txBody>
      </p:sp>
      <p:sp>
        <p:nvSpPr>
          <p:cNvPr id="9" name="anim_wipeup_35"/>
          <p:cNvSpPr/>
          <p:nvPr/>
        </p:nvSpPr>
        <p:spPr>
          <a:xfrm>
            <a:off x="4361688" y="187452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AEEF6"/>
            </a:solidFill>
            <a:prstDash val="solid"/>
          </a:ln>
          <a:effectLst>
            <a:outerShdw sx="100000" sy="100000" kx="0" ky="0" algn="bl" rotWithShape="0" blurRad="2286" dist="762" dir="5400000">
              <a:srgbClr val="1A2540">
                <a:alpha val="16000"/>
              </a:srgbClr>
            </a:outerShdw>
          </a:effectLst>
        </p:spPr>
      </p:sp>
      <p:sp>
        <p:nvSpPr>
          <p:cNvPr id="10" name="anim_fade_36"/>
          <p:cNvSpPr/>
          <p:nvPr/>
        </p:nvSpPr>
        <p:spPr>
          <a:xfrm>
            <a:off x="4636008" y="2148840"/>
            <a:ext cx="658368" cy="658368"/>
          </a:xfrm>
          <a:prstGeom prst="ellipse">
            <a:avLst/>
          </a:prstGeom>
          <a:solidFill>
            <a:srgbClr val="E8EEFB"/>
          </a:solidFill>
          <a:ln/>
          <a:effectLst>
            <a:outerShdw sx="100000" sy="100000" kx="0" ky="0" algn="bl" rotWithShape="0" blurRad="1270" dist="508" dir="5400000">
              <a:srgbClr val="1A2540">
                <a:alpha val="22000"/>
              </a:srgbClr>
            </a:outerShdw>
          </a:effectLst>
        </p:spPr>
      </p:sp>
      <p:pic>
        <p:nvPicPr>
          <p:cNvPr id="11" name="Image 1" descr="/home/claude/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351" y="2333183"/>
            <a:ext cx="289682" cy="289682"/>
          </a:xfrm>
          <a:prstGeom prst="rect">
            <a:avLst/>
          </a:prstGeom>
        </p:spPr>
      </p:pic>
      <p:sp>
        <p:nvSpPr>
          <p:cNvPr id="12" name="anim_fade_37"/>
          <p:cNvSpPr/>
          <p:nvPr/>
        </p:nvSpPr>
        <p:spPr>
          <a:xfrm>
            <a:off x="4636008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Networking</a:t>
            </a:r>
            <a:endParaRPr lang="en-US" sz="1550" dirty="0"/>
          </a:p>
        </p:txBody>
      </p:sp>
      <p:sp>
        <p:nvSpPr>
          <p:cNvPr id="13" name="anim_fade_38"/>
          <p:cNvSpPr/>
          <p:nvPr/>
        </p:nvSpPr>
        <p:spPr>
          <a:xfrm>
            <a:off x="4636008" y="31546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 with batchmates and grow a professional network across industries.</a:t>
            </a:r>
            <a:endParaRPr lang="en-US" sz="1150" dirty="0"/>
          </a:p>
        </p:txBody>
      </p:sp>
      <p:sp>
        <p:nvSpPr>
          <p:cNvPr id="14" name="anim_wipeup_39"/>
          <p:cNvSpPr/>
          <p:nvPr/>
        </p:nvSpPr>
        <p:spPr>
          <a:xfrm>
            <a:off x="8202168" y="187452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AEEF6"/>
            </a:solidFill>
            <a:prstDash val="solid"/>
          </a:ln>
          <a:effectLst>
            <a:outerShdw sx="100000" sy="100000" kx="0" ky="0" algn="bl" rotWithShape="0" blurRad="2286" dist="762" dir="5400000">
              <a:srgbClr val="1A2540">
                <a:alpha val="16000"/>
              </a:srgbClr>
            </a:outerShdw>
          </a:effectLst>
        </p:spPr>
      </p:sp>
      <p:sp>
        <p:nvSpPr>
          <p:cNvPr id="15" name="anim_fade_40"/>
          <p:cNvSpPr/>
          <p:nvPr/>
        </p:nvSpPr>
        <p:spPr>
          <a:xfrm>
            <a:off x="8476488" y="2148840"/>
            <a:ext cx="658368" cy="658368"/>
          </a:xfrm>
          <a:prstGeom prst="ellipse">
            <a:avLst/>
          </a:prstGeom>
          <a:solidFill>
            <a:srgbClr val="E8EEFB"/>
          </a:solidFill>
          <a:ln/>
          <a:effectLst>
            <a:outerShdw sx="100000" sy="100000" kx="0" ky="0" algn="bl" rotWithShape="0" blurRad="1270" dist="508" dir="5400000">
              <a:srgbClr val="1A2540">
                <a:alpha val="22000"/>
              </a:srgbClr>
            </a:outerShdw>
          </a:effectLst>
        </p:spPr>
      </p:sp>
      <p:pic>
        <p:nvPicPr>
          <p:cNvPr id="16" name="Image 2" descr="/home/claude/icons/men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0831" y="2333183"/>
            <a:ext cx="289682" cy="289682"/>
          </a:xfrm>
          <a:prstGeom prst="rect">
            <a:avLst/>
          </a:prstGeom>
        </p:spPr>
      </p:pic>
      <p:sp>
        <p:nvSpPr>
          <p:cNvPr id="17" name="anim_fade_41"/>
          <p:cNvSpPr/>
          <p:nvPr/>
        </p:nvSpPr>
        <p:spPr>
          <a:xfrm>
            <a:off x="8476488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</a:t>
            </a:r>
            <a:endParaRPr lang="en-US" sz="1550" dirty="0"/>
          </a:p>
        </p:txBody>
      </p:sp>
      <p:sp>
        <p:nvSpPr>
          <p:cNvPr id="18" name="anim_fade_42"/>
          <p:cNvSpPr/>
          <p:nvPr/>
        </p:nvSpPr>
        <p:spPr>
          <a:xfrm>
            <a:off x="8476488" y="31546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juniors learn directly from experienced graduates and leaders.</a:t>
            </a:r>
            <a:endParaRPr lang="en-US" sz="1150" dirty="0"/>
          </a:p>
        </p:txBody>
      </p:sp>
      <p:sp>
        <p:nvSpPr>
          <p:cNvPr id="19" name="anim_wipeup_43"/>
          <p:cNvSpPr/>
          <p:nvPr/>
        </p:nvSpPr>
        <p:spPr>
          <a:xfrm>
            <a:off x="521208" y="4087368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AEEF6"/>
            </a:solidFill>
            <a:prstDash val="solid"/>
          </a:ln>
          <a:effectLst>
            <a:outerShdw sx="100000" sy="100000" kx="0" ky="0" algn="bl" rotWithShape="0" blurRad="2286" dist="762" dir="5400000">
              <a:srgbClr val="1A2540">
                <a:alpha val="16000"/>
              </a:srgbClr>
            </a:outerShdw>
          </a:effectLst>
        </p:spPr>
      </p:sp>
      <p:sp>
        <p:nvSpPr>
          <p:cNvPr id="20" name="anim_fade_44"/>
          <p:cNvSpPr/>
          <p:nvPr/>
        </p:nvSpPr>
        <p:spPr>
          <a:xfrm>
            <a:off x="795528" y="4361688"/>
            <a:ext cx="658368" cy="658368"/>
          </a:xfrm>
          <a:prstGeom prst="ellipse">
            <a:avLst/>
          </a:prstGeom>
          <a:solidFill>
            <a:srgbClr val="E8EEFB"/>
          </a:solidFill>
          <a:ln/>
          <a:effectLst>
            <a:outerShdw sx="100000" sy="100000" kx="0" ky="0" algn="bl" rotWithShape="0" blurRad="1270" dist="508" dir="5400000">
              <a:srgbClr val="1A2540">
                <a:alpha val="22000"/>
              </a:srgbClr>
            </a:outerShdw>
          </a:effectLst>
        </p:spPr>
      </p:sp>
      <p:pic>
        <p:nvPicPr>
          <p:cNvPr id="21" name="Image 3" descr="/home/claude/icons/eve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871" y="4546031"/>
            <a:ext cx="289682" cy="289682"/>
          </a:xfrm>
          <a:prstGeom prst="rect">
            <a:avLst/>
          </a:prstGeom>
        </p:spPr>
      </p:pic>
      <p:sp>
        <p:nvSpPr>
          <p:cNvPr id="22" name="anim_fade_45"/>
          <p:cNvSpPr/>
          <p:nvPr/>
        </p:nvSpPr>
        <p:spPr>
          <a:xfrm>
            <a:off x="795528" y="50474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Meetups</a:t>
            </a:r>
            <a:endParaRPr lang="en-US" sz="1550" dirty="0"/>
          </a:p>
        </p:txBody>
      </p:sp>
      <p:sp>
        <p:nvSpPr>
          <p:cNvPr id="23" name="anim_fade_46"/>
          <p:cNvSpPr/>
          <p:nvPr/>
        </p:nvSpPr>
        <p:spPr>
          <a:xfrm>
            <a:off x="795528" y="536752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Reunions, webinars, hackathons, and campus events — all in one calendar.</a:t>
            </a:r>
            <a:endParaRPr lang="en-US" sz="1150" dirty="0"/>
          </a:p>
        </p:txBody>
      </p:sp>
      <p:sp>
        <p:nvSpPr>
          <p:cNvPr id="24" name="anim_wipeup_47"/>
          <p:cNvSpPr/>
          <p:nvPr/>
        </p:nvSpPr>
        <p:spPr>
          <a:xfrm>
            <a:off x="4361688" y="4087368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AEEF6"/>
            </a:solidFill>
            <a:prstDash val="solid"/>
          </a:ln>
          <a:effectLst>
            <a:outerShdw sx="100000" sy="100000" kx="0" ky="0" algn="bl" rotWithShape="0" blurRad="2286" dist="762" dir="5400000">
              <a:srgbClr val="1A2540">
                <a:alpha val="16000"/>
              </a:srgbClr>
            </a:outerShdw>
          </a:effectLst>
        </p:spPr>
      </p:sp>
      <p:sp>
        <p:nvSpPr>
          <p:cNvPr id="25" name="anim_fade_48"/>
          <p:cNvSpPr/>
          <p:nvPr/>
        </p:nvSpPr>
        <p:spPr>
          <a:xfrm>
            <a:off x="4636008" y="4361688"/>
            <a:ext cx="658368" cy="658368"/>
          </a:xfrm>
          <a:prstGeom prst="ellipse">
            <a:avLst/>
          </a:prstGeom>
          <a:solidFill>
            <a:srgbClr val="E8EEFB"/>
          </a:solidFill>
          <a:ln/>
          <a:effectLst>
            <a:outerShdw sx="100000" sy="100000" kx="0" ky="0" algn="bl" rotWithShape="0" blurRad="1270" dist="508" dir="5400000">
              <a:srgbClr val="1A2540">
                <a:alpha val="22000"/>
              </a:srgbClr>
            </a:outerShdw>
          </a:effectLst>
        </p:spPr>
      </p:sp>
      <p:pic>
        <p:nvPicPr>
          <p:cNvPr id="26" name="Image 4" descr="/home/claude/icons/profi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0351" y="4546031"/>
            <a:ext cx="289682" cy="289682"/>
          </a:xfrm>
          <a:prstGeom prst="rect">
            <a:avLst/>
          </a:prstGeom>
        </p:spPr>
      </p:pic>
      <p:sp>
        <p:nvSpPr>
          <p:cNvPr id="27" name="anim_fade_49"/>
          <p:cNvSpPr/>
          <p:nvPr/>
        </p:nvSpPr>
        <p:spPr>
          <a:xfrm>
            <a:off x="4636008" y="50474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Management</a:t>
            </a:r>
            <a:endParaRPr lang="en-US" sz="1550" dirty="0"/>
          </a:p>
        </p:txBody>
      </p:sp>
      <p:sp>
        <p:nvSpPr>
          <p:cNvPr id="28" name="anim_fade_50"/>
          <p:cNvSpPr/>
          <p:nvPr/>
        </p:nvSpPr>
        <p:spPr>
          <a:xfrm>
            <a:off x="4636008" y="536752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create and update detailed academic and professional profiles.</a:t>
            </a:r>
            <a:endParaRPr lang="en-US" sz="1150" dirty="0"/>
          </a:p>
        </p:txBody>
      </p:sp>
      <p:sp>
        <p:nvSpPr>
          <p:cNvPr id="29" name="anim_wipeup_51"/>
          <p:cNvSpPr/>
          <p:nvPr/>
        </p:nvSpPr>
        <p:spPr>
          <a:xfrm>
            <a:off x="8202168" y="4087368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AEEF6"/>
            </a:solidFill>
            <a:prstDash val="solid"/>
          </a:ln>
          <a:effectLst>
            <a:outerShdw sx="100000" sy="100000" kx="0" ky="0" algn="bl" rotWithShape="0" blurRad="2286" dist="762" dir="5400000">
              <a:srgbClr val="1A2540">
                <a:alpha val="16000"/>
              </a:srgbClr>
            </a:outerShdw>
          </a:effectLst>
        </p:spPr>
      </p:sp>
      <p:sp>
        <p:nvSpPr>
          <p:cNvPr id="30" name="anim_fade_52"/>
          <p:cNvSpPr/>
          <p:nvPr/>
        </p:nvSpPr>
        <p:spPr>
          <a:xfrm>
            <a:off x="8476488" y="4361688"/>
            <a:ext cx="658368" cy="658368"/>
          </a:xfrm>
          <a:prstGeom prst="ellipse">
            <a:avLst/>
          </a:prstGeom>
          <a:solidFill>
            <a:srgbClr val="E8EEFB"/>
          </a:solidFill>
          <a:ln/>
          <a:effectLst>
            <a:outerShdw sx="100000" sy="100000" kx="0" ky="0" algn="bl" rotWithShape="0" blurRad="1270" dist="508" dir="5400000">
              <a:srgbClr val="1A2540">
                <a:alpha val="22000"/>
              </a:srgbClr>
            </a:outerShdw>
          </a:effectLst>
        </p:spPr>
      </p:sp>
      <p:pic>
        <p:nvPicPr>
          <p:cNvPr id="31" name="Image 5" descr="/home/claude/icons/job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0831" y="4546031"/>
            <a:ext cx="289682" cy="289682"/>
          </a:xfrm>
          <a:prstGeom prst="rect">
            <a:avLst/>
          </a:prstGeom>
        </p:spPr>
      </p:pic>
      <p:sp>
        <p:nvSpPr>
          <p:cNvPr id="32" name="anim_fade_53"/>
          <p:cNvSpPr/>
          <p:nvPr/>
        </p:nvSpPr>
        <p:spPr>
          <a:xfrm>
            <a:off x="8476488" y="50474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Opportunities</a:t>
            </a:r>
            <a:endParaRPr lang="en-US" sz="1550" dirty="0"/>
          </a:p>
        </p:txBody>
      </p:sp>
      <p:sp>
        <p:nvSpPr>
          <p:cNvPr id="33" name="anim_fade_54"/>
          <p:cNvSpPr/>
          <p:nvPr/>
        </p:nvSpPr>
        <p:spPr>
          <a:xfrm>
            <a:off x="8476488" y="536752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exclusive career opportunities shared across the alumni network.</a:t>
            </a:r>
            <a:endParaRPr lang="en-US" sz="1150" dirty="0"/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6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6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6" dur="6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6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6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6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8" dur="6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6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6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6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0" dur="6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6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6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6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2" dur="6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6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6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6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fade_55"/>
          <p:cNvSpPr/>
          <p:nvPr/>
        </p:nvSpPr>
        <p:spPr>
          <a:xfrm>
            <a:off x="566928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AT A GLANCE</a:t>
            </a:r>
            <a:endParaRPr lang="en-US" sz="1200" dirty="0"/>
          </a:p>
        </p:txBody>
      </p:sp>
      <p:sp>
        <p:nvSpPr>
          <p:cNvPr id="3" name="anim_wipeup_56"/>
          <p:cNvSpPr/>
          <p:nvPr/>
        </p:nvSpPr>
        <p:spPr>
          <a:xfrm>
            <a:off x="548640" y="93268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Impacting the world through our collective reach</a:t>
            </a:r>
            <a:endParaRPr lang="en-US" sz="3000" dirty="0"/>
          </a:p>
        </p:txBody>
      </p:sp>
      <p:sp>
        <p:nvSpPr>
          <p:cNvPr id="4" name="anim_wipeup_57"/>
          <p:cNvSpPr/>
          <p:nvPr/>
        </p:nvSpPr>
        <p:spPr>
          <a:xfrm>
            <a:off x="566928" y="2148840"/>
            <a:ext cx="2514600" cy="2743200"/>
          </a:xfrm>
          <a:prstGeom prst="roundRect">
            <a:avLst>
              <a:gd name="adj" fmla="val 3636"/>
            </a:avLst>
          </a:prstGeom>
          <a:solidFill>
            <a:srgbClr val="1E3057"/>
          </a:solidFill>
          <a:ln w="12700">
            <a:solidFill>
              <a:srgbClr val="37497C"/>
            </a:solidFill>
            <a:prstDash val="solid"/>
          </a:ln>
          <a:effectLst>
            <a:outerShdw sx="100000" sy="100000" kx="0" ky="0" algn="bl" rotWithShape="0" blurRad="3810" dist="1016" dir="5400000">
              <a:srgbClr val="0B1226">
                <a:alpha val="40000"/>
              </a:srgbClr>
            </a:outerShdw>
          </a:effectLst>
        </p:spPr>
      </p:sp>
      <p:sp>
        <p:nvSpPr>
          <p:cNvPr id="5" name="anim_fade_58"/>
          <p:cNvSpPr/>
          <p:nvPr/>
        </p:nvSpPr>
        <p:spPr>
          <a:xfrm>
            <a:off x="1435608" y="2532888"/>
            <a:ext cx="777240" cy="777240"/>
          </a:xfrm>
          <a:prstGeom prst="ellipse">
            <a:avLst/>
          </a:prstGeom>
          <a:solidFill>
            <a:srgbClr val="3B6FE0"/>
          </a:solidFill>
          <a:ln/>
          <a:effectLst>
            <a:outerShdw sx="100000" sy="100000" kx="0" ky="0" algn="bl" rotWithShape="0" blurRad="1270" dist="508" dir="5400000">
              <a:srgbClr val="1A2540">
                <a:alpha val="22000"/>
              </a:srgbClr>
            </a:outerShdw>
          </a:effectLst>
        </p:spPr>
      </p:sp>
      <p:pic>
        <p:nvPicPr>
          <p:cNvPr id="6" name="Image 0" descr="/home/claude/icons/member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235" y="2750515"/>
            <a:ext cx="341986" cy="341986"/>
          </a:xfrm>
          <a:prstGeom prst="rect">
            <a:avLst/>
          </a:prstGeom>
        </p:spPr>
      </p:pic>
      <p:sp>
        <p:nvSpPr>
          <p:cNvPr id="7" name="anim_fade_59"/>
          <p:cNvSpPr/>
          <p:nvPr/>
        </p:nvSpPr>
        <p:spPr>
          <a:xfrm>
            <a:off x="566928" y="33832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5400" dirty="0"/>
          </a:p>
        </p:txBody>
      </p:sp>
      <p:sp>
        <p:nvSpPr>
          <p:cNvPr id="8" name="anim_fade_60"/>
          <p:cNvSpPr/>
          <p:nvPr/>
        </p:nvSpPr>
        <p:spPr>
          <a:xfrm>
            <a:off x="658368" y="42702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F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Members</a:t>
            </a:r>
            <a:endParaRPr lang="en-US" sz="1250" dirty="0"/>
          </a:p>
        </p:txBody>
      </p:sp>
      <p:sp>
        <p:nvSpPr>
          <p:cNvPr id="9" name="anim_wipeup_61"/>
          <p:cNvSpPr/>
          <p:nvPr/>
        </p:nvSpPr>
        <p:spPr>
          <a:xfrm>
            <a:off x="3364992" y="2148840"/>
            <a:ext cx="2514600" cy="2743200"/>
          </a:xfrm>
          <a:prstGeom prst="roundRect">
            <a:avLst>
              <a:gd name="adj" fmla="val 3636"/>
            </a:avLst>
          </a:prstGeom>
          <a:solidFill>
            <a:srgbClr val="1E3057"/>
          </a:solidFill>
          <a:ln w="12700">
            <a:solidFill>
              <a:srgbClr val="37497C"/>
            </a:solidFill>
            <a:prstDash val="solid"/>
          </a:ln>
          <a:effectLst>
            <a:outerShdw sx="100000" sy="100000" kx="0" ky="0" algn="bl" rotWithShape="0" blurRad="3810" dist="1016" dir="5400000">
              <a:srgbClr val="0B1226">
                <a:alpha val="40000"/>
              </a:srgbClr>
            </a:outerShdw>
          </a:effectLst>
        </p:spPr>
      </p:sp>
      <p:sp>
        <p:nvSpPr>
          <p:cNvPr id="10" name="anim_fade_62"/>
          <p:cNvSpPr/>
          <p:nvPr/>
        </p:nvSpPr>
        <p:spPr>
          <a:xfrm>
            <a:off x="4233672" y="2532888"/>
            <a:ext cx="777240" cy="777240"/>
          </a:xfrm>
          <a:prstGeom prst="ellipse">
            <a:avLst/>
          </a:prstGeom>
          <a:solidFill>
            <a:srgbClr val="3B6FE0"/>
          </a:solidFill>
          <a:ln/>
          <a:effectLst>
            <a:outerShdw sx="100000" sy="100000" kx="0" ky="0" algn="bl" rotWithShape="0" blurRad="1270" dist="508" dir="5400000">
              <a:srgbClr val="1A2540">
                <a:alpha val="22000"/>
              </a:srgbClr>
            </a:outerShdw>
          </a:effectLst>
        </p:spPr>
      </p:sp>
      <p:pic>
        <p:nvPicPr>
          <p:cNvPr id="11" name="Image 1" descr="/home/claude/icons/career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299" y="2750515"/>
            <a:ext cx="341986" cy="341986"/>
          </a:xfrm>
          <a:prstGeom prst="rect">
            <a:avLst/>
          </a:prstGeom>
        </p:spPr>
      </p:pic>
      <p:sp>
        <p:nvSpPr>
          <p:cNvPr id="12" name="anim_fade_63"/>
          <p:cNvSpPr/>
          <p:nvPr/>
        </p:nvSpPr>
        <p:spPr>
          <a:xfrm>
            <a:off x="3364992" y="33832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400" dirty="0"/>
          </a:p>
        </p:txBody>
      </p:sp>
      <p:sp>
        <p:nvSpPr>
          <p:cNvPr id="13" name="anim_fade_64"/>
          <p:cNvSpPr/>
          <p:nvPr/>
        </p:nvSpPr>
        <p:spPr>
          <a:xfrm>
            <a:off x="3456432" y="42702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F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 Launched</a:t>
            </a:r>
            <a:endParaRPr lang="en-US" sz="1250" dirty="0"/>
          </a:p>
        </p:txBody>
      </p:sp>
      <p:sp>
        <p:nvSpPr>
          <p:cNvPr id="14" name="anim_wipeup_65"/>
          <p:cNvSpPr/>
          <p:nvPr/>
        </p:nvSpPr>
        <p:spPr>
          <a:xfrm>
            <a:off x="6163056" y="2148840"/>
            <a:ext cx="2514600" cy="2743200"/>
          </a:xfrm>
          <a:prstGeom prst="roundRect">
            <a:avLst>
              <a:gd name="adj" fmla="val 3636"/>
            </a:avLst>
          </a:prstGeom>
          <a:solidFill>
            <a:srgbClr val="1E3057"/>
          </a:solidFill>
          <a:ln w="12700">
            <a:solidFill>
              <a:srgbClr val="37497C"/>
            </a:solidFill>
            <a:prstDash val="solid"/>
          </a:ln>
          <a:effectLst>
            <a:outerShdw sx="100000" sy="100000" kx="0" ky="0" algn="bl" rotWithShape="0" blurRad="3810" dist="1016" dir="5400000">
              <a:srgbClr val="0B1226">
                <a:alpha val="40000"/>
              </a:srgbClr>
            </a:outerShdw>
          </a:effectLst>
        </p:spPr>
      </p:sp>
      <p:sp>
        <p:nvSpPr>
          <p:cNvPr id="15" name="anim_fade_66"/>
          <p:cNvSpPr/>
          <p:nvPr/>
        </p:nvSpPr>
        <p:spPr>
          <a:xfrm>
            <a:off x="7031736" y="2532888"/>
            <a:ext cx="777240" cy="777240"/>
          </a:xfrm>
          <a:prstGeom prst="ellipse">
            <a:avLst/>
          </a:prstGeom>
          <a:solidFill>
            <a:srgbClr val="3B6FE0"/>
          </a:solidFill>
          <a:ln/>
          <a:effectLst>
            <a:outerShdw sx="100000" sy="100000" kx="0" ky="0" algn="bl" rotWithShape="0" blurRad="1270" dist="508" dir="5400000">
              <a:srgbClr val="1A2540">
                <a:alpha val="22000"/>
              </a:srgbClr>
            </a:outerShdw>
          </a:effectLst>
        </p:spPr>
      </p:sp>
      <p:pic>
        <p:nvPicPr>
          <p:cNvPr id="16" name="Image 2" descr="/home/claude/icons/companie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9363" y="2750515"/>
            <a:ext cx="341986" cy="341986"/>
          </a:xfrm>
          <a:prstGeom prst="rect">
            <a:avLst/>
          </a:prstGeom>
        </p:spPr>
      </p:pic>
      <p:sp>
        <p:nvSpPr>
          <p:cNvPr id="17" name="anim_fade_67"/>
          <p:cNvSpPr/>
          <p:nvPr/>
        </p:nvSpPr>
        <p:spPr>
          <a:xfrm>
            <a:off x="6163056" y="33832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400" dirty="0"/>
          </a:p>
        </p:txBody>
      </p:sp>
      <p:sp>
        <p:nvSpPr>
          <p:cNvPr id="18" name="anim_fade_68"/>
          <p:cNvSpPr/>
          <p:nvPr/>
        </p:nvSpPr>
        <p:spPr>
          <a:xfrm>
            <a:off x="6254496" y="42702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F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Companies</a:t>
            </a:r>
            <a:endParaRPr lang="en-US" sz="1250" dirty="0"/>
          </a:p>
        </p:txBody>
      </p:sp>
      <p:sp>
        <p:nvSpPr>
          <p:cNvPr id="19" name="anim_wipeup_69"/>
          <p:cNvSpPr/>
          <p:nvPr/>
        </p:nvSpPr>
        <p:spPr>
          <a:xfrm>
            <a:off x="8961120" y="2148840"/>
            <a:ext cx="2514600" cy="2743200"/>
          </a:xfrm>
          <a:prstGeom prst="roundRect">
            <a:avLst>
              <a:gd name="adj" fmla="val 3636"/>
            </a:avLst>
          </a:prstGeom>
          <a:solidFill>
            <a:srgbClr val="1E3057"/>
          </a:solidFill>
          <a:ln w="12700">
            <a:solidFill>
              <a:srgbClr val="37497C"/>
            </a:solidFill>
            <a:prstDash val="solid"/>
          </a:ln>
          <a:effectLst>
            <a:outerShdw sx="100000" sy="100000" kx="0" ky="0" algn="bl" rotWithShape="0" blurRad="3810" dist="1016" dir="5400000">
              <a:srgbClr val="0B1226">
                <a:alpha val="40000"/>
              </a:srgbClr>
            </a:outerShdw>
          </a:effectLst>
        </p:spPr>
      </p:sp>
      <p:sp>
        <p:nvSpPr>
          <p:cNvPr id="20" name="anim_fade_70"/>
          <p:cNvSpPr/>
          <p:nvPr/>
        </p:nvSpPr>
        <p:spPr>
          <a:xfrm>
            <a:off x="9829800" y="2532888"/>
            <a:ext cx="777240" cy="777240"/>
          </a:xfrm>
          <a:prstGeom prst="ellipse">
            <a:avLst/>
          </a:prstGeom>
          <a:solidFill>
            <a:srgbClr val="3B6FE0"/>
          </a:solidFill>
          <a:ln/>
          <a:effectLst>
            <a:outerShdw sx="100000" sy="100000" kx="0" ky="0" algn="bl" rotWithShape="0" blurRad="1270" dist="508" dir="5400000">
              <a:srgbClr val="1A2540">
                <a:alpha val="22000"/>
              </a:srgbClr>
            </a:outerShdw>
          </a:effectLst>
        </p:spPr>
      </p:sp>
      <p:pic>
        <p:nvPicPr>
          <p:cNvPr id="21" name="Image 3" descr="/home/claude/icons/glob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7427" y="2750515"/>
            <a:ext cx="341986" cy="341986"/>
          </a:xfrm>
          <a:prstGeom prst="rect">
            <a:avLst/>
          </a:prstGeom>
        </p:spPr>
      </p:pic>
      <p:sp>
        <p:nvSpPr>
          <p:cNvPr id="22" name="anim_fade_71"/>
          <p:cNvSpPr/>
          <p:nvPr/>
        </p:nvSpPr>
        <p:spPr>
          <a:xfrm>
            <a:off x="8961120" y="33832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400" dirty="0"/>
          </a:p>
        </p:txBody>
      </p:sp>
      <p:sp>
        <p:nvSpPr>
          <p:cNvPr id="23" name="anim_fade_72"/>
          <p:cNvSpPr/>
          <p:nvPr/>
        </p:nvSpPr>
        <p:spPr>
          <a:xfrm>
            <a:off x="9052560" y="42702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F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Represented</a:t>
            </a:r>
            <a:endParaRPr lang="en-US" sz="1250" dirty="0"/>
          </a:p>
        </p:txBody>
      </p:sp>
      <p:sp>
        <p:nvSpPr>
          <p:cNvPr id="24" name="anim_fade_73"/>
          <p:cNvSpPr/>
          <p:nvPr/>
        </p:nvSpPr>
        <p:spPr>
          <a:xfrm>
            <a:off x="566928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community spanning multiple companies and countries — and just getting started.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6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6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6" dur="6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6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6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6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8" dur="6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6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6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6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6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fade_74"/>
          <p:cNvSpPr/>
          <p:nvPr/>
        </p:nvSpPr>
        <p:spPr>
          <a:xfrm>
            <a:off x="566928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anim_wipeup_75"/>
          <p:cNvSpPr/>
          <p:nvPr/>
        </p:nvSpPr>
        <p:spPr>
          <a:xfrm>
            <a:off x="548640" y="7863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in three simple steps</a:t>
            </a:r>
            <a:endParaRPr lang="en-US" sz="3000" dirty="0"/>
          </a:p>
        </p:txBody>
      </p:sp>
      <p:sp>
        <p:nvSpPr>
          <p:cNvPr id="4" name="anim_wipeup_76"/>
          <p:cNvSpPr/>
          <p:nvPr/>
        </p:nvSpPr>
        <p:spPr>
          <a:xfrm>
            <a:off x="566928" y="1965960"/>
            <a:ext cx="3429000" cy="3063240"/>
          </a:xfrm>
          <a:prstGeom prst="roundRect">
            <a:avLst>
              <a:gd name="adj" fmla="val 3284"/>
            </a:avLst>
          </a:prstGeom>
          <a:solidFill>
            <a:srgbClr val="F5F7FB"/>
          </a:solidFill>
          <a:ln w="12700">
            <a:solidFill>
              <a:srgbClr val="E7ECF5"/>
            </a:solidFill>
            <a:prstDash val="solid"/>
          </a:ln>
          <a:effectLst>
            <a:outerShdw sx="100000" sy="100000" kx="0" ky="0" algn="bl" rotWithShape="0" blurRad="2286" dist="762" dir="5400000">
              <a:srgbClr val="1A2540">
                <a:alpha val="14000"/>
              </a:srgbClr>
            </a:outerShdw>
          </a:effectLst>
        </p:spPr>
      </p:sp>
      <p:sp>
        <p:nvSpPr>
          <p:cNvPr id="5" name="anim_fade_77"/>
          <p:cNvSpPr/>
          <p:nvPr/>
        </p:nvSpPr>
        <p:spPr>
          <a:xfrm>
            <a:off x="886968" y="2331720"/>
            <a:ext cx="868680" cy="868680"/>
          </a:xfrm>
          <a:prstGeom prst="ellipse">
            <a:avLst/>
          </a:prstGeom>
          <a:solidFill>
            <a:srgbClr val="16233F"/>
          </a:solidFill>
          <a:ln/>
          <a:effectLst>
            <a:outerShdw sx="100000" sy="100000" kx="0" ky="0" algn="bl" rotWithShape="0" blurRad="1905" dist="635" dir="5400000">
              <a:srgbClr val="1A2540">
                <a:alpha val="30000"/>
              </a:srgbClr>
            </a:outerShdw>
          </a:effectLst>
        </p:spPr>
      </p:sp>
      <p:pic>
        <p:nvPicPr>
          <p:cNvPr id="6" name="Image 0" descr="/home/claude/icons/step_ac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587752"/>
            <a:ext cx="365760" cy="365760"/>
          </a:xfrm>
          <a:prstGeom prst="rect">
            <a:avLst/>
          </a:prstGeom>
        </p:spPr>
      </p:pic>
      <p:sp>
        <p:nvSpPr>
          <p:cNvPr id="7" name="anim_fade_78"/>
          <p:cNvSpPr/>
          <p:nvPr/>
        </p:nvSpPr>
        <p:spPr>
          <a:xfrm>
            <a:off x="2944368" y="22585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DC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200" dirty="0"/>
          </a:p>
        </p:txBody>
      </p:sp>
      <p:sp>
        <p:nvSpPr>
          <p:cNvPr id="8" name="anim_fade_79"/>
          <p:cNvSpPr/>
          <p:nvPr/>
        </p:nvSpPr>
        <p:spPr>
          <a:xfrm>
            <a:off x="886968" y="34290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Setup</a:t>
            </a:r>
            <a:endParaRPr lang="en-US" sz="1700" dirty="0"/>
          </a:p>
        </p:txBody>
      </p:sp>
      <p:sp>
        <p:nvSpPr>
          <p:cNvPr id="9" name="anim_fade_80"/>
          <p:cNvSpPr/>
          <p:nvPr/>
        </p:nvSpPr>
        <p:spPr>
          <a:xfrm>
            <a:off x="886968" y="386791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name, mobile, email, and choose your role — Alumni or Student.</a:t>
            </a:r>
            <a:endParaRPr lang="en-US" sz="1250" dirty="0"/>
          </a:p>
        </p:txBody>
      </p:sp>
      <p:sp>
        <p:nvSpPr>
          <p:cNvPr id="10" name="anim_fade_81"/>
          <p:cNvSpPr/>
          <p:nvPr/>
        </p:nvSpPr>
        <p:spPr>
          <a:xfrm>
            <a:off x="4014216" y="2971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anim_wipeup_82"/>
          <p:cNvSpPr/>
          <p:nvPr/>
        </p:nvSpPr>
        <p:spPr>
          <a:xfrm>
            <a:off x="4498848" y="1965960"/>
            <a:ext cx="3429000" cy="3063240"/>
          </a:xfrm>
          <a:prstGeom prst="roundRect">
            <a:avLst>
              <a:gd name="adj" fmla="val 3284"/>
            </a:avLst>
          </a:prstGeom>
          <a:solidFill>
            <a:srgbClr val="F5F7FB"/>
          </a:solidFill>
          <a:ln w="12700">
            <a:solidFill>
              <a:srgbClr val="E7ECF5"/>
            </a:solidFill>
            <a:prstDash val="solid"/>
          </a:ln>
          <a:effectLst>
            <a:outerShdw sx="100000" sy="100000" kx="0" ky="0" algn="bl" rotWithShape="0" blurRad="2286" dist="762" dir="5400000">
              <a:srgbClr val="1A2540">
                <a:alpha val="14000"/>
              </a:srgbClr>
            </a:outerShdw>
          </a:effectLst>
        </p:spPr>
      </p:sp>
      <p:sp>
        <p:nvSpPr>
          <p:cNvPr id="12" name="anim_fade_83"/>
          <p:cNvSpPr/>
          <p:nvPr/>
        </p:nvSpPr>
        <p:spPr>
          <a:xfrm>
            <a:off x="4818888" y="2331720"/>
            <a:ext cx="868680" cy="868680"/>
          </a:xfrm>
          <a:prstGeom prst="ellipse">
            <a:avLst/>
          </a:prstGeom>
          <a:solidFill>
            <a:srgbClr val="16233F"/>
          </a:solidFill>
          <a:ln/>
          <a:effectLst>
            <a:outerShdw sx="100000" sy="100000" kx="0" ky="0" algn="bl" rotWithShape="0" blurRad="1905" dist="635" dir="5400000">
              <a:srgbClr val="1A2540">
                <a:alpha val="30000"/>
              </a:srgbClr>
            </a:outerShdw>
          </a:effectLst>
        </p:spPr>
      </p:sp>
      <p:pic>
        <p:nvPicPr>
          <p:cNvPr id="13" name="Image 1" descr="/home/claude/icons/step_ac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587752"/>
            <a:ext cx="365760" cy="365760"/>
          </a:xfrm>
          <a:prstGeom prst="rect">
            <a:avLst/>
          </a:prstGeom>
        </p:spPr>
      </p:pic>
      <p:sp>
        <p:nvSpPr>
          <p:cNvPr id="14" name="anim_fade_84"/>
          <p:cNvSpPr/>
          <p:nvPr/>
        </p:nvSpPr>
        <p:spPr>
          <a:xfrm>
            <a:off x="6876288" y="22585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DC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200" dirty="0"/>
          </a:p>
        </p:txBody>
      </p:sp>
      <p:sp>
        <p:nvSpPr>
          <p:cNvPr id="15" name="anim_fade_85"/>
          <p:cNvSpPr/>
          <p:nvPr/>
        </p:nvSpPr>
        <p:spPr>
          <a:xfrm>
            <a:off x="4818888" y="34290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Info</a:t>
            </a:r>
            <a:endParaRPr lang="en-US" sz="1700" dirty="0"/>
          </a:p>
        </p:txBody>
      </p:sp>
      <p:sp>
        <p:nvSpPr>
          <p:cNvPr id="16" name="anim_fade_86"/>
          <p:cNvSpPr/>
          <p:nvPr/>
        </p:nvSpPr>
        <p:spPr>
          <a:xfrm>
            <a:off x="4818888" y="386791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college, batch year, and program details as per college records.</a:t>
            </a:r>
            <a:endParaRPr lang="en-US" sz="1250" dirty="0"/>
          </a:p>
        </p:txBody>
      </p:sp>
      <p:sp>
        <p:nvSpPr>
          <p:cNvPr id="17" name="anim_fade_87"/>
          <p:cNvSpPr/>
          <p:nvPr/>
        </p:nvSpPr>
        <p:spPr>
          <a:xfrm>
            <a:off x="7946136" y="2971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anim_wipeup_88"/>
          <p:cNvSpPr/>
          <p:nvPr/>
        </p:nvSpPr>
        <p:spPr>
          <a:xfrm>
            <a:off x="8430768" y="1965960"/>
            <a:ext cx="3429000" cy="3063240"/>
          </a:xfrm>
          <a:prstGeom prst="roundRect">
            <a:avLst>
              <a:gd name="adj" fmla="val 3284"/>
            </a:avLst>
          </a:prstGeom>
          <a:solidFill>
            <a:srgbClr val="F5F7FB"/>
          </a:solidFill>
          <a:ln w="12700">
            <a:solidFill>
              <a:srgbClr val="E7ECF5"/>
            </a:solidFill>
            <a:prstDash val="solid"/>
          </a:ln>
          <a:effectLst>
            <a:outerShdw sx="100000" sy="100000" kx="0" ky="0" algn="bl" rotWithShape="0" blurRad="2286" dist="762" dir="5400000">
              <a:srgbClr val="1A2540">
                <a:alpha val="14000"/>
              </a:srgbClr>
            </a:outerShdw>
          </a:effectLst>
        </p:spPr>
      </p:sp>
      <p:sp>
        <p:nvSpPr>
          <p:cNvPr id="19" name="anim_fade_89"/>
          <p:cNvSpPr/>
          <p:nvPr/>
        </p:nvSpPr>
        <p:spPr>
          <a:xfrm>
            <a:off x="8750808" y="2331720"/>
            <a:ext cx="868680" cy="868680"/>
          </a:xfrm>
          <a:prstGeom prst="ellipse">
            <a:avLst/>
          </a:prstGeom>
          <a:solidFill>
            <a:srgbClr val="16233F"/>
          </a:solidFill>
          <a:ln/>
          <a:effectLst>
            <a:outerShdw sx="100000" sy="100000" kx="0" ky="0" algn="bl" rotWithShape="0" blurRad="1905" dist="635" dir="5400000">
              <a:srgbClr val="1A2540">
                <a:alpha val="30000"/>
              </a:srgbClr>
            </a:outerShdw>
          </a:effectLst>
        </p:spPr>
      </p:sp>
      <p:pic>
        <p:nvPicPr>
          <p:cNvPr id="20" name="Image 2" descr="/home/claude/icons/step_pro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2587752"/>
            <a:ext cx="365760" cy="365760"/>
          </a:xfrm>
          <a:prstGeom prst="rect">
            <a:avLst/>
          </a:prstGeom>
        </p:spPr>
      </p:pic>
      <p:sp>
        <p:nvSpPr>
          <p:cNvPr id="21" name="anim_fade_90"/>
          <p:cNvSpPr/>
          <p:nvPr/>
        </p:nvSpPr>
        <p:spPr>
          <a:xfrm>
            <a:off x="10808208" y="22585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DC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200" dirty="0"/>
          </a:p>
        </p:txBody>
      </p:sp>
      <p:sp>
        <p:nvSpPr>
          <p:cNvPr id="22" name="anim_fade_91"/>
          <p:cNvSpPr/>
          <p:nvPr/>
        </p:nvSpPr>
        <p:spPr>
          <a:xfrm>
            <a:off x="8750808" y="34290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Info</a:t>
            </a:r>
            <a:endParaRPr lang="en-US" sz="1700" dirty="0"/>
          </a:p>
        </p:txBody>
      </p:sp>
      <p:sp>
        <p:nvSpPr>
          <p:cNvPr id="23" name="anim_fade_92"/>
          <p:cNvSpPr/>
          <p:nvPr/>
        </p:nvSpPr>
        <p:spPr>
          <a:xfrm>
            <a:off x="8750808" y="386791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current role and employment status to complete your profile.</a:t>
            </a:r>
            <a:endParaRPr lang="en-US" sz="1250" dirty="0"/>
          </a:p>
        </p:txBody>
      </p:sp>
      <p:sp>
        <p:nvSpPr>
          <p:cNvPr id="24" name="anim_fade_93"/>
          <p:cNvSpPr/>
          <p:nvPr/>
        </p:nvSpPr>
        <p:spPr>
          <a:xfrm>
            <a:off x="566928" y="544068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F1F5FE"/>
          </a:solidFill>
          <a:ln/>
        </p:spPr>
      </p:sp>
      <p:pic>
        <p:nvPicPr>
          <p:cNvPr id="25" name="anim_fade_94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614416"/>
            <a:ext cx="310896" cy="310896"/>
          </a:xfrm>
          <a:prstGeom prst="rect">
            <a:avLst/>
          </a:prstGeom>
        </p:spPr>
      </p:pic>
      <p:sp>
        <p:nvSpPr>
          <p:cNvPr id="26" name="anim_fade_95"/>
          <p:cNvSpPr/>
          <p:nvPr/>
        </p:nvSpPr>
        <p:spPr>
          <a:xfrm>
            <a:off x="1234440" y="54406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 keeps it trusted —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registrations are reviewed by the administrator before joining the live directory.</a:t>
            </a:r>
            <a:endParaRPr lang="en-US" sz="1250" dirty="0"/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" dur="6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6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6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6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6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6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8" dur="6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6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6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6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6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6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6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6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fade_96"/>
          <p:cNvSpPr/>
          <p:nvPr/>
        </p:nvSpPr>
        <p:spPr>
          <a:xfrm>
            <a:off x="56692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</a:t>
            </a:r>
            <a:endParaRPr lang="en-US" sz="1200" dirty="0"/>
          </a:p>
        </p:txBody>
      </p:sp>
      <p:sp>
        <p:nvSpPr>
          <p:cNvPr id="3" name="anim_wipeup_97"/>
          <p:cNvSpPr/>
          <p:nvPr/>
        </p:nvSpPr>
        <p:spPr>
          <a:xfrm>
            <a:off x="548640" y="74066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that runs the network</a:t>
            </a:r>
            <a:endParaRPr lang="en-US" sz="3000" dirty="0"/>
          </a:p>
        </p:txBody>
      </p:sp>
      <p:sp>
        <p:nvSpPr>
          <p:cNvPr id="4" name="anim_wleft_98"/>
          <p:cNvSpPr/>
          <p:nvPr/>
        </p:nvSpPr>
        <p:spPr>
          <a:xfrm>
            <a:off x="566928" y="182880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AEEF6"/>
            </a:solidFill>
            <a:prstDash val="solid"/>
          </a:ln>
          <a:effectLst>
            <a:outerShdw sx="100000" sy="100000" kx="0" ky="0" algn="bl" rotWithShape="0" blurRad="1905" dist="635" dir="5400000">
              <a:srgbClr val="1A254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139696"/>
            <a:ext cx="109728" cy="429768"/>
          </a:xfrm>
          <a:prstGeom prst="roundRect">
            <a:avLst>
              <a:gd name="adj" fmla="val 50000"/>
            </a:avLst>
          </a:prstGeom>
          <a:solidFill>
            <a:srgbClr val="16233F"/>
          </a:solidFill>
          <a:ln/>
        </p:spPr>
      </p:sp>
      <p:sp>
        <p:nvSpPr>
          <p:cNvPr id="6" name="anim_fade_99"/>
          <p:cNvSpPr/>
          <p:nvPr/>
        </p:nvSpPr>
        <p:spPr>
          <a:xfrm>
            <a:off x="978408" y="193852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7" name="anim_fade_100"/>
          <p:cNvSpPr/>
          <p:nvPr/>
        </p:nvSpPr>
        <p:spPr>
          <a:xfrm>
            <a:off x="978408" y="24871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Alumni</a:t>
            </a:r>
            <a:endParaRPr lang="en-US" sz="1150" dirty="0"/>
          </a:p>
        </p:txBody>
      </p:sp>
      <p:sp>
        <p:nvSpPr>
          <p:cNvPr id="8" name="anim_wleft_101"/>
          <p:cNvSpPr/>
          <p:nvPr/>
        </p:nvSpPr>
        <p:spPr>
          <a:xfrm>
            <a:off x="3355848" y="182880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AEEF6"/>
            </a:solidFill>
            <a:prstDash val="solid"/>
          </a:ln>
          <a:effectLst>
            <a:outerShdw sx="100000" sy="100000" kx="0" ky="0" algn="bl" rotWithShape="0" blurRad="1905" dist="635" dir="5400000">
              <a:srgbClr val="1A254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57016" y="2139696"/>
            <a:ext cx="109728" cy="42976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0" name="anim_fade_102"/>
          <p:cNvSpPr/>
          <p:nvPr/>
        </p:nvSpPr>
        <p:spPr>
          <a:xfrm>
            <a:off x="3767328" y="193852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1" name="anim_fade_103"/>
          <p:cNvSpPr/>
          <p:nvPr/>
        </p:nvSpPr>
        <p:spPr>
          <a:xfrm>
            <a:off x="3767328" y="24871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Employed</a:t>
            </a:r>
            <a:endParaRPr lang="en-US" sz="1150" dirty="0"/>
          </a:p>
        </p:txBody>
      </p:sp>
      <p:sp>
        <p:nvSpPr>
          <p:cNvPr id="12" name="anim_wleft_104"/>
          <p:cNvSpPr/>
          <p:nvPr/>
        </p:nvSpPr>
        <p:spPr>
          <a:xfrm>
            <a:off x="566928" y="315468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AEEF6"/>
            </a:solidFill>
            <a:prstDash val="solid"/>
          </a:ln>
          <a:effectLst>
            <a:outerShdw sx="100000" sy="100000" kx="0" ky="0" algn="bl" rotWithShape="0" blurRad="1905" dist="635" dir="5400000">
              <a:srgbClr val="1A254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465576"/>
            <a:ext cx="109728" cy="429768"/>
          </a:xfrm>
          <a:prstGeom prst="roundRect">
            <a:avLst>
              <a:gd name="adj" fmla="val 50000"/>
            </a:avLst>
          </a:prstGeom>
          <a:solidFill>
            <a:srgbClr val="3B6FE0"/>
          </a:solidFill>
          <a:ln/>
        </p:spPr>
      </p:sp>
      <p:sp>
        <p:nvSpPr>
          <p:cNvPr id="14" name="anim_fade_105"/>
          <p:cNvSpPr/>
          <p:nvPr/>
        </p:nvSpPr>
        <p:spPr>
          <a:xfrm>
            <a:off x="978408" y="326440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anim_fade_106"/>
          <p:cNvSpPr/>
          <p:nvPr/>
        </p:nvSpPr>
        <p:spPr>
          <a:xfrm>
            <a:off x="978408" y="38130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Self-Employed</a:t>
            </a:r>
            <a:endParaRPr lang="en-US" sz="1150" dirty="0"/>
          </a:p>
        </p:txBody>
      </p:sp>
      <p:sp>
        <p:nvSpPr>
          <p:cNvPr id="16" name="anim_wleft_107"/>
          <p:cNvSpPr/>
          <p:nvPr/>
        </p:nvSpPr>
        <p:spPr>
          <a:xfrm>
            <a:off x="3355848" y="315468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AEEF6"/>
            </a:solidFill>
            <a:prstDash val="solid"/>
          </a:ln>
          <a:effectLst>
            <a:outerShdw sx="100000" sy="100000" kx="0" ky="0" algn="bl" rotWithShape="0" blurRad="1905" dist="635" dir="5400000">
              <a:srgbClr val="1A254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57016" y="3465576"/>
            <a:ext cx="109728" cy="429768"/>
          </a:xfrm>
          <a:prstGeom prst="roundRect">
            <a:avLst>
              <a:gd name="adj" fmla="val 50000"/>
            </a:avLst>
          </a:prstGeom>
          <a:solidFill>
            <a:srgbClr val="8A93A6"/>
          </a:solidFill>
          <a:ln/>
        </p:spPr>
      </p:sp>
      <p:sp>
        <p:nvSpPr>
          <p:cNvPr id="18" name="anim_fade_108"/>
          <p:cNvSpPr/>
          <p:nvPr/>
        </p:nvSpPr>
        <p:spPr>
          <a:xfrm>
            <a:off x="3767328" y="326440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9" name="anim_fade_109"/>
          <p:cNvSpPr/>
          <p:nvPr/>
        </p:nvSpPr>
        <p:spPr>
          <a:xfrm>
            <a:off x="3767328" y="38130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</a:t>
            </a:r>
            <a:endParaRPr lang="en-US" sz="1150" dirty="0"/>
          </a:p>
        </p:txBody>
      </p:sp>
      <p:sp>
        <p:nvSpPr>
          <p:cNvPr id="20" name="anim_wleft_110"/>
          <p:cNvSpPr/>
          <p:nvPr/>
        </p:nvSpPr>
        <p:spPr>
          <a:xfrm>
            <a:off x="566928" y="448056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AEEF6"/>
            </a:solidFill>
            <a:prstDash val="solid"/>
          </a:ln>
          <a:effectLst>
            <a:outerShdw sx="100000" sy="100000" kx="0" ky="0" algn="bl" rotWithShape="0" blurRad="1905" dist="635" dir="5400000">
              <a:srgbClr val="1A254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4791456"/>
            <a:ext cx="109728" cy="42976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2" name="anim_fade_111"/>
          <p:cNvSpPr/>
          <p:nvPr/>
        </p:nvSpPr>
        <p:spPr>
          <a:xfrm>
            <a:off x="978408" y="459028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23" name="anim_fade_112"/>
          <p:cNvSpPr/>
          <p:nvPr/>
        </p:nvSpPr>
        <p:spPr>
          <a:xfrm>
            <a:off x="978408" y="51389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50" dirty="0"/>
          </a:p>
        </p:txBody>
      </p:sp>
      <p:sp>
        <p:nvSpPr>
          <p:cNvPr id="24" name="anim_fade_113"/>
          <p:cNvSpPr/>
          <p:nvPr/>
        </p:nvSpPr>
        <p:spPr>
          <a:xfrm>
            <a:off x="5943600" y="1783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by status</a:t>
            </a:r>
            <a:endParaRPr lang="en-US" sz="1400" dirty="0"/>
          </a:p>
        </p:txBody>
      </p:sp>
      <p:graphicFrame>
        <p:nvGraphicFramePr>
          <p:cNvPr id="25" name="anim_fade_114" descr=""/>
          <p:cNvGraphicFramePr/>
          <p:nvPr/>
        </p:nvGraphicFramePr>
        <p:xfrm>
          <a:off x="5806440" y="2057400"/>
          <a:ext cx="288036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anim_wleft_115"/>
          <p:cNvSpPr/>
          <p:nvPr/>
        </p:nvSpPr>
        <p:spPr>
          <a:xfrm>
            <a:off x="9098280" y="1783080"/>
            <a:ext cx="2697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AEEF6"/>
            </a:solidFill>
            <a:prstDash val="solid"/>
          </a:ln>
          <a:effectLst>
            <a:outerShdw sx="100000" sy="100000" kx="0" ky="0" algn="bl" rotWithShape="0" blurRad="1524" dist="508" dir="5400000">
              <a:srgbClr val="1A2540">
                <a:alpha val="12000"/>
              </a:srgbClr>
            </a:outerShdw>
          </a:effectLst>
        </p:spPr>
      </p:sp>
      <p:sp>
        <p:nvSpPr>
          <p:cNvPr id="27" name="anim_fade_116"/>
          <p:cNvSpPr/>
          <p:nvPr/>
        </p:nvSpPr>
        <p:spPr>
          <a:xfrm>
            <a:off x="9262872" y="1947672"/>
            <a:ext cx="457200" cy="457200"/>
          </a:xfrm>
          <a:prstGeom prst="ellipse">
            <a:avLst/>
          </a:prstGeom>
          <a:solidFill>
            <a:srgbClr val="E8EEFB"/>
          </a:solidFill>
          <a:ln/>
          <a:effectLst>
            <a:outerShdw sx="100000" sy="100000" kx="0" ky="0" algn="bl" rotWithShape="0" blurRad="1270" dist="508" dir="5400000">
              <a:srgbClr val="1A2540">
                <a:alpha val="22000"/>
              </a:srgbClr>
            </a:outerShdw>
          </a:effectLst>
        </p:spPr>
      </p:sp>
      <p:pic>
        <p:nvPicPr>
          <p:cNvPr id="28" name="Image 0" descr="/home/claude/icons/addalumn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88" y="2075688"/>
            <a:ext cx="201168" cy="201168"/>
          </a:xfrm>
          <a:prstGeom prst="rect">
            <a:avLst/>
          </a:prstGeom>
        </p:spPr>
      </p:pic>
      <p:sp>
        <p:nvSpPr>
          <p:cNvPr id="29" name="anim_fade_117"/>
          <p:cNvSpPr/>
          <p:nvPr/>
        </p:nvSpPr>
        <p:spPr>
          <a:xfrm>
            <a:off x="9829800" y="190195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Alumni</a:t>
            </a:r>
            <a:endParaRPr lang="en-US" sz="1350" dirty="0"/>
          </a:p>
        </p:txBody>
      </p:sp>
      <p:sp>
        <p:nvSpPr>
          <p:cNvPr id="30" name="anim_fade_118"/>
          <p:cNvSpPr/>
          <p:nvPr/>
        </p:nvSpPr>
        <p:spPr>
          <a:xfrm>
            <a:off x="9829800" y="21945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alumni profiles manually</a:t>
            </a:r>
            <a:endParaRPr lang="en-US" sz="1050" dirty="0"/>
          </a:p>
        </p:txBody>
      </p:sp>
      <p:sp>
        <p:nvSpPr>
          <p:cNvPr id="31" name="anim_wleft_119"/>
          <p:cNvSpPr/>
          <p:nvPr/>
        </p:nvSpPr>
        <p:spPr>
          <a:xfrm>
            <a:off x="9098280" y="2679192"/>
            <a:ext cx="2697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AEEF6"/>
            </a:solidFill>
            <a:prstDash val="solid"/>
          </a:ln>
          <a:effectLst>
            <a:outerShdw sx="100000" sy="100000" kx="0" ky="0" algn="bl" rotWithShape="0" blurRad="1524" dist="508" dir="5400000">
              <a:srgbClr val="1A2540">
                <a:alpha val="12000"/>
              </a:srgbClr>
            </a:outerShdw>
          </a:effectLst>
        </p:spPr>
      </p:sp>
      <p:sp>
        <p:nvSpPr>
          <p:cNvPr id="32" name="anim_fade_120"/>
          <p:cNvSpPr/>
          <p:nvPr/>
        </p:nvSpPr>
        <p:spPr>
          <a:xfrm>
            <a:off x="9262872" y="2843784"/>
            <a:ext cx="457200" cy="457200"/>
          </a:xfrm>
          <a:prstGeom prst="ellipse">
            <a:avLst/>
          </a:prstGeom>
          <a:solidFill>
            <a:srgbClr val="E8EEFB"/>
          </a:solidFill>
          <a:ln/>
          <a:effectLst>
            <a:outerShdw sx="100000" sy="100000" kx="0" ky="0" algn="bl" rotWithShape="0" blurRad="1270" dist="508" dir="5400000">
              <a:srgbClr val="1A2540">
                <a:alpha val="22000"/>
              </a:srgbClr>
            </a:outerShdw>
          </a:effectLst>
        </p:spPr>
      </p:sp>
      <p:pic>
        <p:nvPicPr>
          <p:cNvPr id="33" name="Image 1" descr="/home/claude/icons/man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88" y="2971800"/>
            <a:ext cx="201168" cy="201168"/>
          </a:xfrm>
          <a:prstGeom prst="rect">
            <a:avLst/>
          </a:prstGeom>
        </p:spPr>
      </p:pic>
      <p:sp>
        <p:nvSpPr>
          <p:cNvPr id="34" name="anim_fade_121"/>
          <p:cNvSpPr/>
          <p:nvPr/>
        </p:nvSpPr>
        <p:spPr>
          <a:xfrm>
            <a:off x="9829800" y="279806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Alumni</a:t>
            </a:r>
            <a:endParaRPr lang="en-US" sz="1350" dirty="0"/>
          </a:p>
        </p:txBody>
      </p:sp>
      <p:sp>
        <p:nvSpPr>
          <p:cNvPr id="35" name="anim_fade_122"/>
          <p:cNvSpPr/>
          <p:nvPr/>
        </p:nvSpPr>
        <p:spPr>
          <a:xfrm>
            <a:off x="9829800" y="309067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edit, and delete records</a:t>
            </a:r>
            <a:endParaRPr lang="en-US" sz="1050" dirty="0"/>
          </a:p>
        </p:txBody>
      </p:sp>
      <p:sp>
        <p:nvSpPr>
          <p:cNvPr id="36" name="anim_wleft_123"/>
          <p:cNvSpPr/>
          <p:nvPr/>
        </p:nvSpPr>
        <p:spPr>
          <a:xfrm>
            <a:off x="9098280" y="3575304"/>
            <a:ext cx="2697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AEEF6"/>
            </a:solidFill>
            <a:prstDash val="solid"/>
          </a:ln>
          <a:effectLst>
            <a:outerShdw sx="100000" sy="100000" kx="0" ky="0" algn="bl" rotWithShape="0" blurRad="1524" dist="508" dir="5400000">
              <a:srgbClr val="1A2540">
                <a:alpha val="12000"/>
              </a:srgbClr>
            </a:outerShdw>
          </a:effectLst>
        </p:spPr>
      </p:sp>
      <p:sp>
        <p:nvSpPr>
          <p:cNvPr id="37" name="anim_fade_124"/>
          <p:cNvSpPr/>
          <p:nvPr/>
        </p:nvSpPr>
        <p:spPr>
          <a:xfrm>
            <a:off x="9262872" y="3739896"/>
            <a:ext cx="457200" cy="457200"/>
          </a:xfrm>
          <a:prstGeom prst="ellipse">
            <a:avLst/>
          </a:prstGeom>
          <a:solidFill>
            <a:srgbClr val="E8EEFB"/>
          </a:solidFill>
          <a:ln/>
          <a:effectLst>
            <a:outerShdw sx="100000" sy="100000" kx="0" ky="0" algn="bl" rotWithShape="0" blurRad="1270" dist="508" dir="5400000">
              <a:srgbClr val="1A2540">
                <a:alpha val="22000"/>
              </a:srgbClr>
            </a:outerShdw>
          </a:effectLst>
        </p:spPr>
      </p:sp>
      <p:pic>
        <p:nvPicPr>
          <p:cNvPr id="38" name="Image 2" descr="/home/claude/icons/approval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88" y="3867912"/>
            <a:ext cx="201168" cy="201168"/>
          </a:xfrm>
          <a:prstGeom prst="rect">
            <a:avLst/>
          </a:prstGeom>
        </p:spPr>
      </p:pic>
      <p:sp>
        <p:nvSpPr>
          <p:cNvPr id="39" name="anim_fade_125"/>
          <p:cNvSpPr/>
          <p:nvPr/>
        </p:nvSpPr>
        <p:spPr>
          <a:xfrm>
            <a:off x="9829800" y="369417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Approvals</a:t>
            </a:r>
            <a:endParaRPr lang="en-US" sz="1350" dirty="0"/>
          </a:p>
        </p:txBody>
      </p:sp>
      <p:sp>
        <p:nvSpPr>
          <p:cNvPr id="40" name="anim_fade_126"/>
          <p:cNvSpPr/>
          <p:nvPr/>
        </p:nvSpPr>
        <p:spPr>
          <a:xfrm>
            <a:off x="9829800" y="398678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self-registrations</a:t>
            </a:r>
            <a:endParaRPr lang="en-US" sz="1050" dirty="0"/>
          </a:p>
        </p:txBody>
      </p:sp>
      <p:sp>
        <p:nvSpPr>
          <p:cNvPr id="41" name="anim_wleft_127"/>
          <p:cNvSpPr/>
          <p:nvPr/>
        </p:nvSpPr>
        <p:spPr>
          <a:xfrm>
            <a:off x="9098280" y="4471416"/>
            <a:ext cx="2697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AEEF6"/>
            </a:solidFill>
            <a:prstDash val="solid"/>
          </a:ln>
          <a:effectLst>
            <a:outerShdw sx="100000" sy="100000" kx="0" ky="0" algn="bl" rotWithShape="0" blurRad="1524" dist="508" dir="5400000">
              <a:srgbClr val="1A2540">
                <a:alpha val="12000"/>
              </a:srgbClr>
            </a:outerShdw>
          </a:effectLst>
        </p:spPr>
      </p:sp>
      <p:sp>
        <p:nvSpPr>
          <p:cNvPr id="42" name="anim_fade_128"/>
          <p:cNvSpPr/>
          <p:nvPr/>
        </p:nvSpPr>
        <p:spPr>
          <a:xfrm>
            <a:off x="9262872" y="4636008"/>
            <a:ext cx="457200" cy="457200"/>
          </a:xfrm>
          <a:prstGeom prst="ellipse">
            <a:avLst/>
          </a:prstGeom>
          <a:solidFill>
            <a:srgbClr val="E8EEFB"/>
          </a:solidFill>
          <a:ln/>
          <a:effectLst>
            <a:outerShdw sx="100000" sy="100000" kx="0" ky="0" algn="bl" rotWithShape="0" blurRad="1270" dist="508" dir="5400000">
              <a:srgbClr val="1A2540">
                <a:alpha val="22000"/>
              </a:srgbClr>
            </a:outerShdw>
          </a:effectLst>
        </p:spPr>
      </p:sp>
      <p:pic>
        <p:nvPicPr>
          <p:cNvPr id="43" name="Image 3" descr="/home/claude/icons/cal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88" y="4764024"/>
            <a:ext cx="201168" cy="201168"/>
          </a:xfrm>
          <a:prstGeom prst="rect">
            <a:avLst/>
          </a:prstGeom>
        </p:spPr>
      </p:pic>
      <p:sp>
        <p:nvSpPr>
          <p:cNvPr id="44" name="anim_fade_129"/>
          <p:cNvSpPr/>
          <p:nvPr/>
        </p:nvSpPr>
        <p:spPr>
          <a:xfrm>
            <a:off x="9829800" y="459028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350" dirty="0"/>
          </a:p>
        </p:txBody>
      </p:sp>
      <p:sp>
        <p:nvSpPr>
          <p:cNvPr id="45" name="anim_fade_130"/>
          <p:cNvSpPr/>
          <p:nvPr/>
        </p:nvSpPr>
        <p:spPr>
          <a:xfrm>
            <a:off x="9829800" y="488289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reunions &amp; webinars</a:t>
            </a:r>
            <a:endParaRPr lang="en-US" sz="1050" dirty="0"/>
          </a:p>
        </p:txBody>
      </p:sp>
      <p:sp>
        <p:nvSpPr>
          <p:cNvPr id="46" name="anim_wleft_131"/>
          <p:cNvSpPr/>
          <p:nvPr/>
        </p:nvSpPr>
        <p:spPr>
          <a:xfrm>
            <a:off x="9098280" y="5367528"/>
            <a:ext cx="2697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AEEF6"/>
            </a:solidFill>
            <a:prstDash val="solid"/>
          </a:ln>
          <a:effectLst>
            <a:outerShdw sx="100000" sy="100000" kx="0" ky="0" algn="bl" rotWithShape="0" blurRad="1524" dist="508" dir="5400000">
              <a:srgbClr val="1A2540">
                <a:alpha val="12000"/>
              </a:srgbClr>
            </a:outerShdw>
          </a:effectLst>
        </p:spPr>
      </p:sp>
      <p:sp>
        <p:nvSpPr>
          <p:cNvPr id="47" name="anim_fade_132"/>
          <p:cNvSpPr/>
          <p:nvPr/>
        </p:nvSpPr>
        <p:spPr>
          <a:xfrm>
            <a:off x="9262872" y="5532120"/>
            <a:ext cx="457200" cy="457200"/>
          </a:xfrm>
          <a:prstGeom prst="ellipse">
            <a:avLst/>
          </a:prstGeom>
          <a:solidFill>
            <a:srgbClr val="E8EEFB"/>
          </a:solidFill>
          <a:ln/>
          <a:effectLst>
            <a:outerShdw sx="100000" sy="100000" kx="0" ky="0" algn="bl" rotWithShape="0" blurRad="1270" dist="508" dir="5400000">
              <a:srgbClr val="1A2540">
                <a:alpha val="22000"/>
              </a:srgbClr>
            </a:outerShdw>
          </a:effectLst>
        </p:spPr>
      </p:sp>
      <p:pic>
        <p:nvPicPr>
          <p:cNvPr id="48" name="Image 4" descr="/home/claude/icons/broadcas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0888" y="5660136"/>
            <a:ext cx="201168" cy="201168"/>
          </a:xfrm>
          <a:prstGeom prst="rect">
            <a:avLst/>
          </a:prstGeom>
        </p:spPr>
      </p:pic>
      <p:sp>
        <p:nvSpPr>
          <p:cNvPr id="49" name="anim_fade_133"/>
          <p:cNvSpPr/>
          <p:nvPr/>
        </p:nvSpPr>
        <p:spPr>
          <a:xfrm>
            <a:off x="9829800" y="548640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350" dirty="0"/>
          </a:p>
        </p:txBody>
      </p:sp>
      <p:sp>
        <p:nvSpPr>
          <p:cNvPr id="50" name="anim_fade_134"/>
          <p:cNvSpPr/>
          <p:nvPr/>
        </p:nvSpPr>
        <p:spPr>
          <a:xfrm>
            <a:off x="9829800" y="577900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announcements to all members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6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0" dur="6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6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6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9" dur="6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6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6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8" dur="6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6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6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6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6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3" dur="6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6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6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6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5" dur="6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6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6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6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7" dur="6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6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6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6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9" dur="60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60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3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5" dur="600"/>
                                  <p:tgtEl>
                                    <p:spTgt spid="4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6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60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9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60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2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4" dur="6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5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7" dur="600"/>
                                  <p:tgtEl>
                                    <p:spTgt spid="4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8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600"/>
                                  <p:tgtEl>
                                    <p:spTgt spid="5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fade_135"/>
          <p:cNvSpPr/>
          <p:nvPr/>
        </p:nvSpPr>
        <p:spPr>
          <a:xfrm>
            <a:off x="566928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3" name="anim_wipeup_136"/>
          <p:cNvSpPr/>
          <p:nvPr/>
        </p:nvSpPr>
        <p:spPr>
          <a:xfrm>
            <a:off x="548640" y="7863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that bring everyone back</a:t>
            </a:r>
            <a:endParaRPr lang="en-US" sz="3000" dirty="0"/>
          </a:p>
        </p:txBody>
      </p:sp>
      <p:sp>
        <p:nvSpPr>
          <p:cNvPr id="4" name="anim_wipeup_137"/>
          <p:cNvSpPr/>
          <p:nvPr/>
        </p:nvSpPr>
        <p:spPr>
          <a:xfrm>
            <a:off x="566928" y="1965960"/>
            <a:ext cx="2670048" cy="3429000"/>
          </a:xfrm>
          <a:prstGeom prst="roundRect">
            <a:avLst>
              <a:gd name="adj" fmla="val 3767"/>
            </a:avLst>
          </a:prstGeom>
          <a:solidFill>
            <a:srgbClr val="FFFFFF"/>
          </a:solidFill>
          <a:ln w="12700">
            <a:solidFill>
              <a:srgbClr val="EAEEF6"/>
            </a:solidFill>
            <a:prstDash val="solid"/>
          </a:ln>
          <a:effectLst>
            <a:outerShdw sx="100000" sy="100000" kx="0" ky="0" algn="bl" rotWithShape="0" blurRad="2540" dist="889" dir="5400000">
              <a:srgbClr val="1A2540">
                <a:alpha val="16000"/>
              </a:srgbClr>
            </a:outerShdw>
          </a:effectLst>
        </p:spPr>
      </p:sp>
      <p:sp>
        <p:nvSpPr>
          <p:cNvPr id="5" name="anim_fade_138"/>
          <p:cNvSpPr/>
          <p:nvPr/>
        </p:nvSpPr>
        <p:spPr>
          <a:xfrm>
            <a:off x="566928" y="1965960"/>
            <a:ext cx="2670048" cy="1234440"/>
          </a:xfrm>
          <a:prstGeom prst="roundRect">
            <a:avLst>
              <a:gd name="adj" fmla="val 8148"/>
            </a:avLst>
          </a:prstGeom>
          <a:solidFill>
            <a:srgbClr val="16233F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2606040"/>
            <a:ext cx="2670048" cy="59436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7" name="anim_fade_139"/>
          <p:cNvSpPr/>
          <p:nvPr/>
        </p:nvSpPr>
        <p:spPr>
          <a:xfrm>
            <a:off x="1490472" y="2679192"/>
            <a:ext cx="822960" cy="822960"/>
          </a:xfrm>
          <a:prstGeom prst="ellipse">
            <a:avLst/>
          </a:prstGeom>
          <a:solidFill>
            <a:srgbClr val="3B6FE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" dist="635" dir="5400000">
              <a:srgbClr val="0B1226">
                <a:alpha val="35000"/>
              </a:srgbClr>
            </a:outerShdw>
          </a:effectLst>
        </p:spPr>
      </p:sp>
      <p:pic>
        <p:nvPicPr>
          <p:cNvPr id="8" name="Image 0" descr="/home/claude/icons/reun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2898648"/>
            <a:ext cx="384048" cy="384048"/>
          </a:xfrm>
          <a:prstGeom prst="rect">
            <a:avLst/>
          </a:prstGeom>
        </p:spPr>
      </p:pic>
      <p:sp>
        <p:nvSpPr>
          <p:cNvPr id="9" name="anim_fade_140"/>
          <p:cNvSpPr/>
          <p:nvPr/>
        </p:nvSpPr>
        <p:spPr>
          <a:xfrm>
            <a:off x="749808" y="361188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Reunions</a:t>
            </a:r>
            <a:endParaRPr lang="en-US" sz="1700" dirty="0"/>
          </a:p>
        </p:txBody>
      </p:sp>
      <p:sp>
        <p:nvSpPr>
          <p:cNvPr id="10" name="anim_fade_141"/>
          <p:cNvSpPr/>
          <p:nvPr/>
        </p:nvSpPr>
        <p:spPr>
          <a:xfrm>
            <a:off x="768096" y="402336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Jubilee &amp; annual alumni meets</a:t>
            </a:r>
            <a:endParaRPr lang="en-US" sz="1200" dirty="0"/>
          </a:p>
        </p:txBody>
      </p:sp>
      <p:sp>
        <p:nvSpPr>
          <p:cNvPr id="11" name="anim_fade_142"/>
          <p:cNvSpPr/>
          <p:nvPr/>
        </p:nvSpPr>
        <p:spPr>
          <a:xfrm>
            <a:off x="749808" y="4910328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 · Vijayanagar</a:t>
            </a:r>
            <a:endParaRPr lang="en-US" sz="1050" dirty="0"/>
          </a:p>
        </p:txBody>
      </p:sp>
      <p:sp>
        <p:nvSpPr>
          <p:cNvPr id="12" name="anim_wipeup_143"/>
          <p:cNvSpPr/>
          <p:nvPr/>
        </p:nvSpPr>
        <p:spPr>
          <a:xfrm>
            <a:off x="3520440" y="1965960"/>
            <a:ext cx="2670048" cy="3429000"/>
          </a:xfrm>
          <a:prstGeom prst="roundRect">
            <a:avLst>
              <a:gd name="adj" fmla="val 3767"/>
            </a:avLst>
          </a:prstGeom>
          <a:solidFill>
            <a:srgbClr val="FFFFFF"/>
          </a:solidFill>
          <a:ln w="12700">
            <a:solidFill>
              <a:srgbClr val="EAEEF6"/>
            </a:solidFill>
            <a:prstDash val="solid"/>
          </a:ln>
          <a:effectLst>
            <a:outerShdw sx="100000" sy="100000" kx="0" ky="0" algn="bl" rotWithShape="0" blurRad="2540" dist="889" dir="5400000">
              <a:srgbClr val="1A2540">
                <a:alpha val="16000"/>
              </a:srgbClr>
            </a:outerShdw>
          </a:effectLst>
        </p:spPr>
      </p:sp>
      <p:sp>
        <p:nvSpPr>
          <p:cNvPr id="13" name="anim_fade_144"/>
          <p:cNvSpPr/>
          <p:nvPr/>
        </p:nvSpPr>
        <p:spPr>
          <a:xfrm>
            <a:off x="3520440" y="1965960"/>
            <a:ext cx="2670048" cy="1234440"/>
          </a:xfrm>
          <a:prstGeom prst="roundRect">
            <a:avLst>
              <a:gd name="adj" fmla="val 8148"/>
            </a:avLst>
          </a:prstGeom>
          <a:solidFill>
            <a:srgbClr val="16233F"/>
          </a:solidFill>
          <a:ln/>
        </p:spPr>
      </p:sp>
      <p:sp>
        <p:nvSpPr>
          <p:cNvPr id="14" name="Shape 11"/>
          <p:cNvSpPr/>
          <p:nvPr/>
        </p:nvSpPr>
        <p:spPr>
          <a:xfrm>
            <a:off x="3520440" y="2606040"/>
            <a:ext cx="2670048" cy="59436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15" name="anim_fade_145"/>
          <p:cNvSpPr/>
          <p:nvPr/>
        </p:nvSpPr>
        <p:spPr>
          <a:xfrm>
            <a:off x="4443984" y="2679192"/>
            <a:ext cx="822960" cy="822960"/>
          </a:xfrm>
          <a:prstGeom prst="ellipse">
            <a:avLst/>
          </a:prstGeom>
          <a:solidFill>
            <a:srgbClr val="3B6FE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" dist="635" dir="5400000">
              <a:srgbClr val="0B1226">
                <a:alpha val="35000"/>
              </a:srgbClr>
            </a:outerShdw>
          </a:effectLst>
        </p:spPr>
      </p:sp>
      <p:pic>
        <p:nvPicPr>
          <p:cNvPr id="16" name="Image 1" descr="/home/claude/icons/webin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898648"/>
            <a:ext cx="384048" cy="384048"/>
          </a:xfrm>
          <a:prstGeom prst="rect">
            <a:avLst/>
          </a:prstGeom>
        </p:spPr>
      </p:pic>
      <p:sp>
        <p:nvSpPr>
          <p:cNvPr id="17" name="anim_fade_146"/>
          <p:cNvSpPr/>
          <p:nvPr/>
        </p:nvSpPr>
        <p:spPr>
          <a:xfrm>
            <a:off x="3703320" y="361188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Webinars</a:t>
            </a:r>
            <a:endParaRPr lang="en-US" sz="1700" dirty="0"/>
          </a:p>
        </p:txBody>
      </p:sp>
      <p:sp>
        <p:nvSpPr>
          <p:cNvPr id="18" name="anim_fade_147"/>
          <p:cNvSpPr/>
          <p:nvPr/>
        </p:nvSpPr>
        <p:spPr>
          <a:xfrm>
            <a:off x="3721608" y="402336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sessions for students &amp; alumni</a:t>
            </a:r>
            <a:endParaRPr lang="en-US" sz="1200" dirty="0"/>
          </a:p>
        </p:txBody>
      </p:sp>
      <p:sp>
        <p:nvSpPr>
          <p:cNvPr id="19" name="anim_fade_148"/>
          <p:cNvSpPr/>
          <p:nvPr/>
        </p:nvSpPr>
        <p:spPr>
          <a:xfrm>
            <a:off x="3703320" y="4910328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 · Online</a:t>
            </a:r>
            <a:endParaRPr lang="en-US" sz="1050" dirty="0"/>
          </a:p>
        </p:txBody>
      </p:sp>
      <p:sp>
        <p:nvSpPr>
          <p:cNvPr id="20" name="anim_wipeup_149"/>
          <p:cNvSpPr/>
          <p:nvPr/>
        </p:nvSpPr>
        <p:spPr>
          <a:xfrm>
            <a:off x="6473952" y="1965960"/>
            <a:ext cx="2670048" cy="3429000"/>
          </a:xfrm>
          <a:prstGeom prst="roundRect">
            <a:avLst>
              <a:gd name="adj" fmla="val 3767"/>
            </a:avLst>
          </a:prstGeom>
          <a:solidFill>
            <a:srgbClr val="FFFFFF"/>
          </a:solidFill>
          <a:ln w="12700">
            <a:solidFill>
              <a:srgbClr val="EAEEF6"/>
            </a:solidFill>
            <a:prstDash val="solid"/>
          </a:ln>
          <a:effectLst>
            <a:outerShdw sx="100000" sy="100000" kx="0" ky="0" algn="bl" rotWithShape="0" blurRad="2540" dist="889" dir="5400000">
              <a:srgbClr val="1A2540">
                <a:alpha val="16000"/>
              </a:srgbClr>
            </a:outerShdw>
          </a:effectLst>
        </p:spPr>
      </p:sp>
      <p:sp>
        <p:nvSpPr>
          <p:cNvPr id="21" name="anim_fade_150"/>
          <p:cNvSpPr/>
          <p:nvPr/>
        </p:nvSpPr>
        <p:spPr>
          <a:xfrm>
            <a:off x="6473952" y="1965960"/>
            <a:ext cx="2670048" cy="1234440"/>
          </a:xfrm>
          <a:prstGeom prst="roundRect">
            <a:avLst>
              <a:gd name="adj" fmla="val 8148"/>
            </a:avLst>
          </a:prstGeom>
          <a:solidFill>
            <a:srgbClr val="16233F"/>
          </a:solidFill>
          <a:ln/>
        </p:spPr>
      </p:sp>
      <p:sp>
        <p:nvSpPr>
          <p:cNvPr id="22" name="Shape 18"/>
          <p:cNvSpPr/>
          <p:nvPr/>
        </p:nvSpPr>
        <p:spPr>
          <a:xfrm>
            <a:off x="6473952" y="2606040"/>
            <a:ext cx="2670048" cy="59436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23" name="anim_fade_151"/>
          <p:cNvSpPr/>
          <p:nvPr/>
        </p:nvSpPr>
        <p:spPr>
          <a:xfrm>
            <a:off x="7397496" y="2679192"/>
            <a:ext cx="822960" cy="822960"/>
          </a:xfrm>
          <a:prstGeom prst="ellipse">
            <a:avLst/>
          </a:prstGeom>
          <a:solidFill>
            <a:srgbClr val="3B6FE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" dist="635" dir="5400000">
              <a:srgbClr val="0B1226">
                <a:alpha val="35000"/>
              </a:srgbClr>
            </a:outerShdw>
          </a:effectLst>
        </p:spPr>
      </p:sp>
      <p:pic>
        <p:nvPicPr>
          <p:cNvPr id="24" name="Image 2" descr="/home/claude/icons/h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2" y="2898648"/>
            <a:ext cx="384048" cy="384048"/>
          </a:xfrm>
          <a:prstGeom prst="rect">
            <a:avLst/>
          </a:prstGeom>
        </p:spPr>
      </p:pic>
      <p:sp>
        <p:nvSpPr>
          <p:cNvPr id="25" name="anim_fade_152"/>
          <p:cNvSpPr/>
          <p:nvPr/>
        </p:nvSpPr>
        <p:spPr>
          <a:xfrm>
            <a:off x="6656832" y="361188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Hackathons</a:t>
            </a:r>
            <a:endParaRPr lang="en-US" sz="1700" dirty="0"/>
          </a:p>
        </p:txBody>
      </p:sp>
      <p:sp>
        <p:nvSpPr>
          <p:cNvPr id="26" name="anim_fade_153"/>
          <p:cNvSpPr/>
          <p:nvPr/>
        </p:nvSpPr>
        <p:spPr>
          <a:xfrm>
            <a:off x="6675120" y="402336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compete, and innovate together</a:t>
            </a:r>
            <a:endParaRPr lang="en-US" sz="1200" dirty="0"/>
          </a:p>
        </p:txBody>
      </p:sp>
      <p:sp>
        <p:nvSpPr>
          <p:cNvPr id="27" name="anim_fade_154"/>
          <p:cNvSpPr/>
          <p:nvPr/>
        </p:nvSpPr>
        <p:spPr>
          <a:xfrm>
            <a:off x="6656832" y="4910328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 · Campus</a:t>
            </a:r>
            <a:endParaRPr lang="en-US" sz="1050" dirty="0"/>
          </a:p>
        </p:txBody>
      </p:sp>
      <p:sp>
        <p:nvSpPr>
          <p:cNvPr id="28" name="anim_wipeup_155"/>
          <p:cNvSpPr/>
          <p:nvPr/>
        </p:nvSpPr>
        <p:spPr>
          <a:xfrm>
            <a:off x="9427464" y="1965960"/>
            <a:ext cx="2670048" cy="3429000"/>
          </a:xfrm>
          <a:prstGeom prst="roundRect">
            <a:avLst>
              <a:gd name="adj" fmla="val 3767"/>
            </a:avLst>
          </a:prstGeom>
          <a:solidFill>
            <a:srgbClr val="FFFFFF"/>
          </a:solidFill>
          <a:ln w="12700">
            <a:solidFill>
              <a:srgbClr val="EAEEF6"/>
            </a:solidFill>
            <a:prstDash val="solid"/>
          </a:ln>
          <a:effectLst>
            <a:outerShdw sx="100000" sy="100000" kx="0" ky="0" algn="bl" rotWithShape="0" blurRad="2540" dist="889" dir="5400000">
              <a:srgbClr val="1A2540">
                <a:alpha val="16000"/>
              </a:srgbClr>
            </a:outerShdw>
          </a:effectLst>
        </p:spPr>
      </p:sp>
      <p:sp>
        <p:nvSpPr>
          <p:cNvPr id="29" name="anim_fade_156"/>
          <p:cNvSpPr/>
          <p:nvPr/>
        </p:nvSpPr>
        <p:spPr>
          <a:xfrm>
            <a:off x="9427464" y="1965960"/>
            <a:ext cx="2670048" cy="1234440"/>
          </a:xfrm>
          <a:prstGeom prst="roundRect">
            <a:avLst>
              <a:gd name="adj" fmla="val 8148"/>
            </a:avLst>
          </a:prstGeom>
          <a:solidFill>
            <a:srgbClr val="16233F"/>
          </a:solidFill>
          <a:ln/>
        </p:spPr>
      </p:sp>
      <p:sp>
        <p:nvSpPr>
          <p:cNvPr id="30" name="Shape 25"/>
          <p:cNvSpPr/>
          <p:nvPr/>
        </p:nvSpPr>
        <p:spPr>
          <a:xfrm>
            <a:off x="9427464" y="2606040"/>
            <a:ext cx="2670048" cy="59436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1" name="anim_fade_157"/>
          <p:cNvSpPr/>
          <p:nvPr/>
        </p:nvSpPr>
        <p:spPr>
          <a:xfrm>
            <a:off x="10351008" y="2679192"/>
            <a:ext cx="822960" cy="822960"/>
          </a:xfrm>
          <a:prstGeom prst="ellipse">
            <a:avLst/>
          </a:prstGeom>
          <a:solidFill>
            <a:srgbClr val="3B6FE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" dist="635" dir="5400000">
              <a:srgbClr val="0B1226">
                <a:alpha val="35000"/>
              </a:srgbClr>
            </a:outerShdw>
          </a:effectLst>
        </p:spPr>
      </p:sp>
      <p:pic>
        <p:nvPicPr>
          <p:cNvPr id="32" name="Image 3" descr="/home/claude/icons/campu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0464" y="2898648"/>
            <a:ext cx="384048" cy="384048"/>
          </a:xfrm>
          <a:prstGeom prst="rect">
            <a:avLst/>
          </a:prstGeom>
        </p:spPr>
      </p:pic>
      <p:sp>
        <p:nvSpPr>
          <p:cNvPr id="33" name="anim_fade_158"/>
          <p:cNvSpPr/>
          <p:nvPr/>
        </p:nvSpPr>
        <p:spPr>
          <a:xfrm>
            <a:off x="9610344" y="361188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Events</a:t>
            </a:r>
            <a:endParaRPr lang="en-US" sz="1700" dirty="0"/>
          </a:p>
        </p:txBody>
      </p:sp>
      <p:sp>
        <p:nvSpPr>
          <p:cNvPr id="34" name="anim_fade_159"/>
          <p:cNvSpPr/>
          <p:nvPr/>
        </p:nvSpPr>
        <p:spPr>
          <a:xfrm>
            <a:off x="9628632" y="402336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Ideathons and on-campus gatherings</a:t>
            </a:r>
            <a:endParaRPr lang="en-US" sz="1200" dirty="0"/>
          </a:p>
        </p:txBody>
      </p:sp>
      <p:sp>
        <p:nvSpPr>
          <p:cNvPr id="35" name="anim_fade_160"/>
          <p:cNvSpPr/>
          <p:nvPr/>
        </p:nvSpPr>
        <p:spPr>
          <a:xfrm>
            <a:off x="9610344" y="4910328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· Vijayanagar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6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" dur="6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6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6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6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6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6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8" dur="6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6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6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6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6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6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6" dur="6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6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6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6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6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6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fade_161"/>
          <p:cNvSpPr/>
          <p:nvPr/>
        </p:nvSpPr>
        <p:spPr>
          <a:xfrm>
            <a:off x="9052560" y="-914400"/>
            <a:ext cx="4206240" cy="4206240"/>
          </a:xfrm>
          <a:prstGeom prst="ellipse">
            <a:avLst/>
          </a:prstGeom>
          <a:solidFill>
            <a:srgbClr val="3B6FE0">
              <a:alpha val="32000"/>
            </a:srgbClr>
          </a:solidFill>
          <a:ln/>
        </p:spPr>
      </p:sp>
      <p:sp>
        <p:nvSpPr>
          <p:cNvPr id="3" name="anim_fade_162"/>
          <p:cNvSpPr/>
          <p:nvPr/>
        </p:nvSpPr>
        <p:spPr>
          <a:xfrm>
            <a:off x="-1097280" y="4206240"/>
            <a:ext cx="3657600" cy="3657600"/>
          </a:xfrm>
          <a:prstGeom prst="ellipse">
            <a:avLst/>
          </a:prstGeom>
          <a:solidFill>
            <a:srgbClr val="2A3F72">
              <a:alpha val="45000"/>
            </a:srgbClr>
          </a:solidFill>
          <a:ln/>
        </p:spPr>
      </p:sp>
      <p:sp>
        <p:nvSpPr>
          <p:cNvPr id="4" name="anim_fade_163"/>
          <p:cNvSpPr/>
          <p:nvPr/>
        </p:nvSpPr>
        <p:spPr>
          <a:xfrm>
            <a:off x="566928" y="548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6386A"/>
          </a:solidFill>
          <a:ln/>
        </p:spPr>
      </p:sp>
      <p:pic>
        <p:nvPicPr>
          <p:cNvPr id="5" name="Image 0" descr="/home/claude/icons/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649224"/>
            <a:ext cx="256032" cy="256032"/>
          </a:xfrm>
          <a:prstGeom prst="rect">
            <a:avLst/>
          </a:prstGeom>
        </p:spPr>
      </p:pic>
      <p:sp>
        <p:nvSpPr>
          <p:cNvPr id="6" name="anim_fade_164"/>
          <p:cNvSpPr/>
          <p:nvPr/>
        </p:nvSpPr>
        <p:spPr>
          <a:xfrm>
            <a:off x="1133856" y="530352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</a:t>
            </a:r>
            <a:pPr algn="l" indent="0" marL="0">
              <a:buNone/>
            </a:pPr>
            <a:r>
              <a:rPr lang="en-US" sz="20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2000" dirty="0"/>
          </a:p>
        </p:txBody>
      </p:sp>
      <p:sp>
        <p:nvSpPr>
          <p:cNvPr id="7" name="anim_fade_165"/>
          <p:cNvSpPr/>
          <p:nvPr/>
        </p:nvSpPr>
        <p:spPr>
          <a:xfrm>
            <a:off x="54864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FA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RE-CONNECT?</a:t>
            </a:r>
            <a:endParaRPr lang="en-US" sz="1300" dirty="0"/>
          </a:p>
        </p:txBody>
      </p:sp>
      <p:sp>
        <p:nvSpPr>
          <p:cNvPr id="8" name="anim_wipeup_166"/>
          <p:cNvSpPr/>
          <p:nvPr/>
        </p:nvSpPr>
        <p:spPr>
          <a:xfrm>
            <a:off x="731520" y="25146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Re-connect with your community</a:t>
            </a:r>
            <a:endParaRPr lang="en-US" sz="4600" dirty="0"/>
          </a:p>
        </p:txBody>
      </p:sp>
      <p:sp>
        <p:nvSpPr>
          <p:cNvPr id="9" name="anim_fade_167"/>
          <p:cNvSpPr/>
          <p:nvPr/>
        </p:nvSpPr>
        <p:spPr>
          <a:xfrm>
            <a:off x="219456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miss out on exclusive alumni events, job opportunities, and a growing network of graduates worldwide.</a:t>
            </a:r>
            <a:endParaRPr lang="en-US" sz="1500" dirty="0"/>
          </a:p>
        </p:txBody>
      </p:sp>
      <p:sp>
        <p:nvSpPr>
          <p:cNvPr id="10" name="anim_wipeup_168"/>
          <p:cNvSpPr/>
          <p:nvPr/>
        </p:nvSpPr>
        <p:spPr>
          <a:xfrm>
            <a:off x="3977640" y="4709160"/>
            <a:ext cx="2057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794" dist="762" dir="5400000">
              <a:srgbClr val="0B1226">
                <a:alpha val="45000"/>
              </a:srgbClr>
            </a:outerShdw>
          </a:effectLst>
        </p:spPr>
      </p:sp>
      <p:sp>
        <p:nvSpPr>
          <p:cNvPr id="11" name="anim_wipeup_169"/>
          <p:cNvSpPr/>
          <p:nvPr/>
        </p:nvSpPr>
        <p:spPr>
          <a:xfrm>
            <a:off x="3977640" y="4709160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</a:t>
            </a:r>
            <a:endParaRPr lang="en-US" sz="1400" dirty="0"/>
          </a:p>
        </p:txBody>
      </p:sp>
      <p:sp>
        <p:nvSpPr>
          <p:cNvPr id="12" name="anim_wipeup_170"/>
          <p:cNvSpPr/>
          <p:nvPr/>
        </p:nvSpPr>
        <p:spPr>
          <a:xfrm>
            <a:off x="6172200" y="4709160"/>
            <a:ext cx="2057400" cy="60350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9FB4E8">
                <a:alpha val="65000"/>
              </a:srgbClr>
            </a:solidFill>
            <a:prstDash val="solid"/>
          </a:ln>
        </p:spPr>
      </p:sp>
      <p:sp>
        <p:nvSpPr>
          <p:cNvPr id="13" name="anim_wipeup_171"/>
          <p:cNvSpPr/>
          <p:nvPr/>
        </p:nvSpPr>
        <p:spPr>
          <a:xfrm>
            <a:off x="6172200" y="4709160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E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Office</a:t>
            </a:r>
            <a:endParaRPr lang="en-US" sz="1400" dirty="0"/>
          </a:p>
        </p:txBody>
      </p:sp>
      <p:sp>
        <p:nvSpPr>
          <p:cNvPr id="14" name="anim_fade_172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9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Alumni Portal · All Rights Reserved   |   Developed by Sunsys Technologies</a:t>
            </a:r>
            <a:endParaRPr lang="en-US" sz="1100" dirty="0"/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" dur="6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3" dur="6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22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6" dur="6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6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Sunsys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AlumniConnect — Alumni Network Portal</dc:title>
  <dc:subject>PptxGenJS Presentation</dc:subject>
  <dc:creator>Sunsys Technologies</dc:creator>
  <cp:lastModifiedBy>Sunsys Technologies</cp:lastModifiedBy>
  <cp:revision>1</cp:revision>
  <dcterms:created xsi:type="dcterms:W3CDTF">2026-08-10T07:19:47Z</dcterms:created>
  <dcterms:modified xsi:type="dcterms:W3CDTF">2026-08-10T07:19:47Z</dcterms:modified>
</cp:coreProperties>
</file>